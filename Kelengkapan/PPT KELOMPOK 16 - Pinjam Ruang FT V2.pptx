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Inter Bold" charset="1" panose="020B0802030000000004"/>
      <p:regular r:id="rId19"/>
    </p:embeddedFont>
    <p:embeddedFont>
      <p:font typeface="TT Interphases Bold" charset="1" panose="02000803060000020004"/>
      <p:regular r:id="rId20"/>
    </p:embeddedFont>
    <p:embeddedFont>
      <p:font typeface="Inter Ultra-Bold" charset="1" panose="02000503000000020004"/>
      <p:regular r:id="rId21"/>
    </p:embeddedFont>
    <p:embeddedFont>
      <p:font typeface="Montserrat" charset="1" panose="00000500000000000000"/>
      <p:regular r:id="rId22"/>
    </p:embeddedFont>
    <p:embeddedFont>
      <p:font typeface="Inter" charset="1" panose="020B0502030000000004"/>
      <p:regular r:id="rId23"/>
    </p:embeddedFont>
    <p:embeddedFont>
      <p:font typeface="Inter Semi-Bold" charset="1" panose="020005030000000200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jpe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23.jpeg" Type="http://schemas.openxmlformats.org/officeDocument/2006/relationships/image"/><Relationship Id="rId5" Target="../media/image24.pn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 Id="rId7" Target="../media/image28.png" Type="http://schemas.openxmlformats.org/officeDocument/2006/relationships/image"/><Relationship Id="rId8" Target="../media/image29.png" Type="http://schemas.openxmlformats.org/officeDocument/2006/relationships/image"/><Relationship Id="rId9" Target="../media/image3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 Id="rId6" Target="../media/image33.png" Type="http://schemas.openxmlformats.org/officeDocument/2006/relationships/image"/><Relationship Id="rId7" Target="../media/image3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media/image3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38.pn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9.pn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40.pn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jpeg" Type="http://schemas.openxmlformats.org/officeDocument/2006/relationships/image"/><Relationship Id="rId3" Target="../media/image4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11" Target="../media/image8.png" Type="http://schemas.openxmlformats.org/officeDocument/2006/relationships/image"/><Relationship Id="rId12"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43.pn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4768685" y="-9085843"/>
            <a:ext cx="16287741" cy="16287741"/>
          </a:xfrm>
          <a:custGeom>
            <a:avLst/>
            <a:gdLst/>
            <a:ahLst/>
            <a:cxnLst/>
            <a:rect r="r" b="b" t="t" l="l"/>
            <a:pathLst>
              <a:path h="16287741" w="16287741">
                <a:moveTo>
                  <a:pt x="0" y="0"/>
                </a:moveTo>
                <a:lnTo>
                  <a:pt x="16287741" y="0"/>
                </a:lnTo>
                <a:lnTo>
                  <a:pt x="16287741" y="16287741"/>
                </a:lnTo>
                <a:lnTo>
                  <a:pt x="0" y="16287741"/>
                </a:lnTo>
                <a:lnTo>
                  <a:pt x="0" y="0"/>
                </a:lnTo>
                <a:close/>
              </a:path>
            </a:pathLst>
          </a:custGeom>
          <a:blipFill>
            <a:blip r:embed="rId2">
              <a:alphaModFix amt="4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456079">
            <a:off x="6155957" y="1824797"/>
            <a:ext cx="24264087" cy="12199444"/>
          </a:xfrm>
          <a:custGeom>
            <a:avLst/>
            <a:gdLst/>
            <a:ahLst/>
            <a:cxnLst/>
            <a:rect r="r" b="b" t="t" l="l"/>
            <a:pathLst>
              <a:path h="12199444" w="24264087">
                <a:moveTo>
                  <a:pt x="0" y="0"/>
                </a:moveTo>
                <a:lnTo>
                  <a:pt x="24264086" y="0"/>
                </a:lnTo>
                <a:lnTo>
                  <a:pt x="24264086" y="12199444"/>
                </a:lnTo>
                <a:lnTo>
                  <a:pt x="0" y="12199444"/>
                </a:lnTo>
                <a:lnTo>
                  <a:pt x="0" y="0"/>
                </a:lnTo>
                <a:close/>
              </a:path>
            </a:pathLst>
          </a:custGeom>
          <a:blipFill>
            <a:blip r:embed="rId4">
              <a:alphaModFix amt="27000"/>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3132404"/>
            <a:ext cx="10058914" cy="5008378"/>
          </a:xfrm>
          <a:prstGeom prst="rect">
            <a:avLst/>
          </a:prstGeom>
        </p:spPr>
        <p:txBody>
          <a:bodyPr anchor="t" rtlCol="false" tIns="0" lIns="0" bIns="0" rIns="0">
            <a:spAutoFit/>
          </a:bodyPr>
          <a:lstStyle/>
          <a:p>
            <a:pPr algn="l">
              <a:lnSpc>
                <a:spcPts val="12967"/>
              </a:lnSpc>
            </a:pPr>
            <a:r>
              <a:rPr lang="en-US" sz="13232" b="true">
                <a:solidFill>
                  <a:srgbClr val="FFFFFF"/>
                </a:solidFill>
                <a:latin typeface="Inter Bold"/>
                <a:ea typeface="Inter Bold"/>
                <a:cs typeface="Inter Bold"/>
                <a:sym typeface="Inter Bold"/>
              </a:rPr>
              <a:t>Pinjam Ruang FT V2</a:t>
            </a:r>
          </a:p>
        </p:txBody>
      </p:sp>
      <p:sp>
        <p:nvSpPr>
          <p:cNvPr name="Freeform 5" id="5"/>
          <p:cNvSpPr/>
          <p:nvPr/>
        </p:nvSpPr>
        <p:spPr>
          <a:xfrm flipH="false" flipV="false" rot="1950340">
            <a:off x="-4753251" y="10873250"/>
            <a:ext cx="17246458" cy="8671136"/>
          </a:xfrm>
          <a:custGeom>
            <a:avLst/>
            <a:gdLst/>
            <a:ahLst/>
            <a:cxnLst/>
            <a:rect r="r" b="b" t="t" l="l"/>
            <a:pathLst>
              <a:path h="8671136" w="17246458">
                <a:moveTo>
                  <a:pt x="0" y="0"/>
                </a:moveTo>
                <a:lnTo>
                  <a:pt x="17246457" y="0"/>
                </a:lnTo>
                <a:lnTo>
                  <a:pt x="17246457" y="8671135"/>
                </a:lnTo>
                <a:lnTo>
                  <a:pt x="0" y="8671135"/>
                </a:lnTo>
                <a:lnTo>
                  <a:pt x="0" y="0"/>
                </a:lnTo>
                <a:close/>
              </a:path>
            </a:pathLst>
          </a:custGeom>
          <a:blipFill>
            <a:blip r:embed="rId4">
              <a:alphaModFix amt="31000"/>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5068102">
            <a:off x="11176781" y="-517321"/>
            <a:ext cx="4590712" cy="459071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B6CE6">
                    <a:alpha val="14000"/>
                  </a:srgbClr>
                </a:gs>
                <a:gs pos="100000">
                  <a:srgbClr val="543985">
                    <a:alpha val="0"/>
                  </a:srgbClr>
                </a:gs>
              </a:gsLst>
              <a:path path="circle">
                <a:fillToRect l="0" r="100000" t="0" b="100000"/>
              </a:path>
              <a:tileRect r="0" l="-100000" b="0" t="-10000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5068102">
            <a:off x="9863886" y="2496472"/>
            <a:ext cx="3044901" cy="304490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B6CE6">
                    <a:alpha val="14000"/>
                  </a:srgbClr>
                </a:gs>
                <a:gs pos="100000">
                  <a:srgbClr val="543985">
                    <a:alpha val="0"/>
                  </a:srgbClr>
                </a:gs>
              </a:gsLst>
              <a:path path="circle">
                <a:fillToRect l="0" r="100000" t="0" b="100000"/>
              </a:path>
              <a:tileRect r="0" l="-100000" b="0" t="-100000"/>
            </a:gra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5068102">
            <a:off x="6729097" y="8841662"/>
            <a:ext cx="833276" cy="83327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B6CE6">
                    <a:alpha val="33000"/>
                  </a:srgbClr>
                </a:gs>
                <a:gs pos="100000">
                  <a:srgbClr val="543985">
                    <a:alpha val="0"/>
                  </a:srgbClr>
                </a:gs>
              </a:gsLst>
              <a:path path="circle">
                <a:fillToRect l="0" r="100000" t="0" b="100000"/>
              </a:path>
              <a:tileRect r="0" l="-100000" b="0" t="-100000"/>
            </a:gra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962261" y="1028700"/>
            <a:ext cx="4066686" cy="621309"/>
            <a:chOff x="0" y="0"/>
            <a:chExt cx="906381" cy="138477"/>
          </a:xfrm>
        </p:grpSpPr>
        <p:sp>
          <p:nvSpPr>
            <p:cNvPr name="Freeform 16" id="16"/>
            <p:cNvSpPr/>
            <p:nvPr/>
          </p:nvSpPr>
          <p:spPr>
            <a:xfrm flipH="false" flipV="false" rot="0">
              <a:off x="0" y="0"/>
              <a:ext cx="906381" cy="138477"/>
            </a:xfrm>
            <a:custGeom>
              <a:avLst/>
              <a:gdLst/>
              <a:ahLst/>
              <a:cxnLst/>
              <a:rect r="r" b="b" t="t" l="l"/>
              <a:pathLst>
                <a:path h="138477" w="906381">
                  <a:moveTo>
                    <a:pt x="69239" y="0"/>
                  </a:moveTo>
                  <a:lnTo>
                    <a:pt x="837143" y="0"/>
                  </a:lnTo>
                  <a:cubicBezTo>
                    <a:pt x="855506" y="0"/>
                    <a:pt x="873117" y="7295"/>
                    <a:pt x="886102" y="20279"/>
                  </a:cubicBezTo>
                  <a:cubicBezTo>
                    <a:pt x="899087" y="33264"/>
                    <a:pt x="906381" y="50875"/>
                    <a:pt x="906381" y="69239"/>
                  </a:cubicBezTo>
                  <a:lnTo>
                    <a:pt x="906381" y="69239"/>
                  </a:lnTo>
                  <a:cubicBezTo>
                    <a:pt x="906381" y="87602"/>
                    <a:pt x="899087" y="105213"/>
                    <a:pt x="886102" y="118198"/>
                  </a:cubicBezTo>
                  <a:cubicBezTo>
                    <a:pt x="873117" y="131182"/>
                    <a:pt x="855506" y="138477"/>
                    <a:pt x="837143" y="138477"/>
                  </a:cubicBezTo>
                  <a:lnTo>
                    <a:pt x="69239" y="138477"/>
                  </a:lnTo>
                  <a:cubicBezTo>
                    <a:pt x="50875" y="138477"/>
                    <a:pt x="33264" y="131182"/>
                    <a:pt x="20279" y="118198"/>
                  </a:cubicBezTo>
                  <a:cubicBezTo>
                    <a:pt x="7295" y="105213"/>
                    <a:pt x="0" y="87602"/>
                    <a:pt x="0" y="69239"/>
                  </a:cubicBezTo>
                  <a:lnTo>
                    <a:pt x="0" y="69239"/>
                  </a:lnTo>
                  <a:cubicBezTo>
                    <a:pt x="0" y="50875"/>
                    <a:pt x="7295" y="33264"/>
                    <a:pt x="20279" y="20279"/>
                  </a:cubicBezTo>
                  <a:cubicBezTo>
                    <a:pt x="33264" y="7295"/>
                    <a:pt x="50875" y="0"/>
                    <a:pt x="69239" y="0"/>
                  </a:cubicBezTo>
                  <a:close/>
                </a:path>
              </a:pathLst>
            </a:custGeom>
            <a:solidFill>
              <a:srgbClr val="CFCFCF"/>
            </a:solidFill>
            <a:ln cap="rnd">
              <a:noFill/>
              <a:prstDash val="solid"/>
              <a:round/>
            </a:ln>
          </p:spPr>
        </p:sp>
        <p:sp>
          <p:nvSpPr>
            <p:cNvPr name="TextBox 17" id="17"/>
            <p:cNvSpPr txBox="true"/>
            <p:nvPr/>
          </p:nvSpPr>
          <p:spPr>
            <a:xfrm>
              <a:off x="0" y="-38100"/>
              <a:ext cx="906381" cy="176577"/>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414417" y="1109137"/>
            <a:ext cx="409369" cy="460435"/>
          </a:xfrm>
          <a:custGeom>
            <a:avLst/>
            <a:gdLst/>
            <a:ahLst/>
            <a:cxnLst/>
            <a:rect r="r" b="b" t="t" l="l"/>
            <a:pathLst>
              <a:path h="460435" w="409369">
                <a:moveTo>
                  <a:pt x="0" y="0"/>
                </a:moveTo>
                <a:lnTo>
                  <a:pt x="409369" y="0"/>
                </a:lnTo>
                <a:lnTo>
                  <a:pt x="409369" y="460435"/>
                </a:lnTo>
                <a:lnTo>
                  <a:pt x="0" y="4604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9" id="19"/>
          <p:cNvSpPr txBox="true"/>
          <p:nvPr/>
        </p:nvSpPr>
        <p:spPr>
          <a:xfrm rot="0">
            <a:off x="2318666" y="1140991"/>
            <a:ext cx="2235778" cy="349250"/>
          </a:xfrm>
          <a:prstGeom prst="rect">
            <a:avLst/>
          </a:prstGeom>
        </p:spPr>
        <p:txBody>
          <a:bodyPr anchor="t" rtlCol="false" tIns="0" lIns="0" bIns="0" rIns="0">
            <a:spAutoFit/>
          </a:bodyPr>
          <a:lstStyle/>
          <a:p>
            <a:pPr algn="l">
              <a:lnSpc>
                <a:spcPts val="2800"/>
              </a:lnSpc>
            </a:pPr>
            <a:r>
              <a:rPr lang="en-US" sz="2000" b="true">
                <a:solidFill>
                  <a:srgbClr val="EBE4ED"/>
                </a:solidFill>
                <a:latin typeface="TT Interphases Bold"/>
                <a:ea typeface="TT Interphases Bold"/>
                <a:cs typeface="TT Interphases Bold"/>
                <a:sym typeface="TT Interphases Bold"/>
              </a:rPr>
              <a:t>Kelompok 16</a:t>
            </a:r>
          </a:p>
        </p:txBody>
      </p:sp>
      <p:sp>
        <p:nvSpPr>
          <p:cNvPr name="Freeform 20" id="20"/>
          <p:cNvSpPr/>
          <p:nvPr/>
        </p:nvSpPr>
        <p:spPr>
          <a:xfrm flipH="true" flipV="false" rot="0">
            <a:off x="13695557" y="5740232"/>
            <a:ext cx="4565016" cy="9468585"/>
          </a:xfrm>
          <a:custGeom>
            <a:avLst/>
            <a:gdLst/>
            <a:ahLst/>
            <a:cxnLst/>
            <a:rect r="r" b="b" t="t" l="l"/>
            <a:pathLst>
              <a:path h="9468585" w="4565016">
                <a:moveTo>
                  <a:pt x="4565016" y="0"/>
                </a:moveTo>
                <a:lnTo>
                  <a:pt x="0" y="0"/>
                </a:lnTo>
                <a:lnTo>
                  <a:pt x="0" y="9468586"/>
                </a:lnTo>
                <a:lnTo>
                  <a:pt x="4565016" y="9468586"/>
                </a:lnTo>
                <a:lnTo>
                  <a:pt x="4565016" y="0"/>
                </a:lnTo>
                <a:close/>
              </a:path>
            </a:pathLst>
          </a:custGeom>
          <a:blipFill>
            <a:blip r:embed="rId8"/>
            <a:stretch>
              <a:fillRect l="0" t="0" r="0" b="0"/>
            </a:stretch>
          </a:blipFill>
        </p:spPr>
      </p:sp>
      <p:sp>
        <p:nvSpPr>
          <p:cNvPr name="Freeform 21" id="21"/>
          <p:cNvSpPr/>
          <p:nvPr/>
        </p:nvSpPr>
        <p:spPr>
          <a:xfrm flipH="true" flipV="false" rot="-5464291">
            <a:off x="9142136" y="648269"/>
            <a:ext cx="7276236" cy="7143941"/>
          </a:xfrm>
          <a:custGeom>
            <a:avLst/>
            <a:gdLst/>
            <a:ahLst/>
            <a:cxnLst/>
            <a:rect r="r" b="b" t="t" l="l"/>
            <a:pathLst>
              <a:path h="7143941" w="7276236">
                <a:moveTo>
                  <a:pt x="7276236" y="0"/>
                </a:moveTo>
                <a:lnTo>
                  <a:pt x="0" y="0"/>
                </a:lnTo>
                <a:lnTo>
                  <a:pt x="0" y="7143941"/>
                </a:lnTo>
                <a:lnTo>
                  <a:pt x="7276236" y="7143941"/>
                </a:lnTo>
                <a:lnTo>
                  <a:pt x="7276236" y="0"/>
                </a:lnTo>
                <a:close/>
              </a:path>
            </a:pathLst>
          </a:custGeom>
          <a:blipFill>
            <a:blip r:embed="rId9">
              <a:alphaModFix amt="53000"/>
              <a:extLst>
                <a:ext uri="{96DAC541-7B7A-43D3-8B79-37D633B846F1}">
                  <asvg:svgBlip xmlns:asvg="http://schemas.microsoft.com/office/drawing/2016/SVG/main" r:embed="rId10"/>
                </a:ext>
              </a:extLst>
            </a:blip>
            <a:stretch>
              <a:fillRect l="0" t="0" r="0" b="0"/>
            </a:stretch>
          </a:blipFill>
        </p:spPr>
      </p:sp>
      <p:sp>
        <p:nvSpPr>
          <p:cNvPr name="TextBox 22" id="22"/>
          <p:cNvSpPr txBox="true"/>
          <p:nvPr/>
        </p:nvSpPr>
        <p:spPr>
          <a:xfrm rot="0">
            <a:off x="9737797" y="2505797"/>
            <a:ext cx="6084914" cy="3499181"/>
          </a:xfrm>
          <a:prstGeom prst="rect">
            <a:avLst/>
          </a:prstGeom>
        </p:spPr>
        <p:txBody>
          <a:bodyPr anchor="t" rtlCol="false" tIns="0" lIns="0" bIns="0" rIns="0">
            <a:spAutoFit/>
          </a:bodyPr>
          <a:lstStyle/>
          <a:p>
            <a:pPr algn="ctr">
              <a:lnSpc>
                <a:spcPts val="3481"/>
              </a:lnSpc>
            </a:pPr>
            <a:r>
              <a:rPr lang="en-US" b="true" sz="2486">
                <a:solidFill>
                  <a:srgbClr val="FFFFFF"/>
                </a:solidFill>
                <a:latin typeface="Inter Ultra-Bold"/>
                <a:ea typeface="Inter Ultra-Bold"/>
                <a:cs typeface="Inter Ultra-Bold"/>
                <a:sym typeface="Inter Ultra-Bold"/>
              </a:rPr>
              <a:t>RAFI NAUFAL ARYAPUTRA</a:t>
            </a:r>
          </a:p>
          <a:p>
            <a:pPr algn="ctr">
              <a:lnSpc>
                <a:spcPts val="3481"/>
              </a:lnSpc>
            </a:pPr>
            <a:r>
              <a:rPr lang="en-US" b="true" sz="2486">
                <a:solidFill>
                  <a:srgbClr val="FFFFFF"/>
                </a:solidFill>
                <a:latin typeface="Inter Bold"/>
                <a:ea typeface="Inter Bold"/>
                <a:cs typeface="Inter Bold"/>
                <a:sym typeface="Inter Bold"/>
              </a:rPr>
              <a:t>2306250680</a:t>
            </a:r>
          </a:p>
          <a:p>
            <a:pPr algn="ctr">
              <a:lnSpc>
                <a:spcPts val="3481"/>
              </a:lnSpc>
            </a:pPr>
            <a:r>
              <a:rPr lang="en-US" b="true" sz="2486">
                <a:solidFill>
                  <a:srgbClr val="FFFFFF"/>
                </a:solidFill>
                <a:latin typeface="Inter Ultra-Bold"/>
                <a:ea typeface="Inter Ultra-Bold"/>
                <a:cs typeface="Inter Ultra-Bold"/>
                <a:sym typeface="Inter Ultra-Bold"/>
              </a:rPr>
              <a:t>MUHAMMAD RAIHAN MUSTOFA</a:t>
            </a:r>
          </a:p>
          <a:p>
            <a:pPr algn="ctr">
              <a:lnSpc>
                <a:spcPts val="3481"/>
              </a:lnSpc>
            </a:pPr>
            <a:r>
              <a:rPr lang="en-US" b="true" sz="2486">
                <a:solidFill>
                  <a:srgbClr val="FFFFFF"/>
                </a:solidFill>
                <a:latin typeface="Inter Ultra-Bold"/>
                <a:ea typeface="Inter Ultra-Bold"/>
                <a:cs typeface="Inter Ultra-Bold"/>
                <a:sym typeface="Inter Ultra-Bold"/>
              </a:rPr>
              <a:t>2306161946</a:t>
            </a:r>
          </a:p>
          <a:p>
            <a:pPr algn="ctr">
              <a:lnSpc>
                <a:spcPts val="3481"/>
              </a:lnSpc>
            </a:pPr>
            <a:r>
              <a:rPr lang="en-US" b="true" sz="2486">
                <a:solidFill>
                  <a:srgbClr val="FFFFFF"/>
                </a:solidFill>
                <a:latin typeface="Inter Ultra-Bold"/>
                <a:ea typeface="Inter Ultra-Bold"/>
                <a:cs typeface="Inter Ultra-Bold"/>
                <a:sym typeface="Inter Ultra-Bold"/>
              </a:rPr>
              <a:t>CALVIN WIRATHAMA KATOROY</a:t>
            </a:r>
          </a:p>
          <a:p>
            <a:pPr algn="ctr">
              <a:lnSpc>
                <a:spcPts val="3481"/>
              </a:lnSpc>
            </a:pPr>
            <a:r>
              <a:rPr lang="en-US" b="true" sz="2486">
                <a:solidFill>
                  <a:srgbClr val="FFFFFF"/>
                </a:solidFill>
                <a:latin typeface="Inter Ultra-Bold"/>
                <a:ea typeface="Inter Ultra-Bold"/>
                <a:cs typeface="Inter Ultra-Bold"/>
                <a:sym typeface="Inter Ultra-Bold"/>
              </a:rPr>
              <a:t>2306242395</a:t>
            </a:r>
          </a:p>
          <a:p>
            <a:pPr algn="ctr">
              <a:lnSpc>
                <a:spcPts val="3481"/>
              </a:lnSpc>
            </a:pPr>
            <a:r>
              <a:rPr lang="en-US" b="true" sz="2486">
                <a:solidFill>
                  <a:srgbClr val="FFFFFF"/>
                </a:solidFill>
                <a:latin typeface="Inter Ultra-Bold"/>
                <a:ea typeface="Inter Ultra-Bold"/>
                <a:cs typeface="Inter Ultra-Bold"/>
                <a:sym typeface="Inter Ultra-Bold"/>
              </a:rPr>
              <a:t>FARHAN RAMADHANI ZAKIYYANDI</a:t>
            </a:r>
          </a:p>
          <a:p>
            <a:pPr algn="ctr">
              <a:lnSpc>
                <a:spcPts val="3481"/>
              </a:lnSpc>
            </a:pPr>
            <a:r>
              <a:rPr lang="en-US" b="true" sz="2486">
                <a:solidFill>
                  <a:srgbClr val="FFFFFF"/>
                </a:solidFill>
                <a:latin typeface="Inter Ultra-Bold"/>
                <a:ea typeface="Inter Ultra-Bold"/>
                <a:cs typeface="Inter Ultra-Bold"/>
                <a:sym typeface="Inter Ultra-Bold"/>
              </a:rPr>
              <a:t>2306220412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4768685" y="-9085843"/>
            <a:ext cx="16287741" cy="16287741"/>
          </a:xfrm>
          <a:custGeom>
            <a:avLst/>
            <a:gdLst/>
            <a:ahLst/>
            <a:cxnLst/>
            <a:rect r="r" b="b" t="t" l="l"/>
            <a:pathLst>
              <a:path h="16287741" w="16287741">
                <a:moveTo>
                  <a:pt x="0" y="0"/>
                </a:moveTo>
                <a:lnTo>
                  <a:pt x="16287741" y="0"/>
                </a:lnTo>
                <a:lnTo>
                  <a:pt x="16287741" y="16287741"/>
                </a:lnTo>
                <a:lnTo>
                  <a:pt x="0" y="16287741"/>
                </a:lnTo>
                <a:lnTo>
                  <a:pt x="0" y="0"/>
                </a:lnTo>
                <a:close/>
              </a:path>
            </a:pathLst>
          </a:custGeom>
          <a:blipFill>
            <a:blip r:embed="rId2">
              <a:alphaModFix amt="4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346427" cy="389642"/>
          </a:xfrm>
          <a:custGeom>
            <a:avLst/>
            <a:gdLst/>
            <a:ahLst/>
            <a:cxnLst/>
            <a:rect r="r" b="b" t="t" l="l"/>
            <a:pathLst>
              <a:path h="389642" w="346427">
                <a:moveTo>
                  <a:pt x="0" y="0"/>
                </a:moveTo>
                <a:lnTo>
                  <a:pt x="346427" y="0"/>
                </a:lnTo>
                <a:lnTo>
                  <a:pt x="346427" y="389642"/>
                </a:lnTo>
                <a:lnTo>
                  <a:pt x="0" y="3896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5273592">
            <a:off x="5811848" y="1550104"/>
            <a:ext cx="2387776" cy="238777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B6CE6">
                    <a:alpha val="14000"/>
                  </a:srgbClr>
                </a:gs>
                <a:gs pos="100000">
                  <a:srgbClr val="543985">
                    <a:alpha val="0"/>
                  </a:srgbClr>
                </a:gs>
              </a:gsLst>
              <a:path path="circle">
                <a:fillToRect l="0" r="100000" t="0" b="100000"/>
              </a:path>
              <a:tileRect r="0" l="-100000" b="0" t="-100000"/>
            </a:gra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024015" y="2227385"/>
            <a:ext cx="9096674" cy="909667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0" r="-52091" b="0"/>
              </a:stretch>
            </a:blipFill>
            <a:ln w="190500" cap="sq">
              <a:gradFill>
                <a:gsLst>
                  <a:gs pos="0">
                    <a:srgbClr val="CB6CE6">
                      <a:alpha val="100000"/>
                    </a:srgbClr>
                  </a:gs>
                  <a:gs pos="100000">
                    <a:srgbClr val="011030">
                      <a:alpha val="100000"/>
                    </a:srgbClr>
                  </a:gs>
                </a:gsLst>
                <a:path path="circle">
                  <a:fillToRect l="0" r="100000" t="0" b="100000"/>
                </a:path>
                <a:tileRect r="0" l="-100000" b="0" t="-100000"/>
              </a:gradFill>
              <a:prstDash val="solid"/>
              <a:miter/>
            </a:ln>
          </p:spPr>
        </p:sp>
      </p:grpSp>
      <p:grpSp>
        <p:nvGrpSpPr>
          <p:cNvPr name="Group 9" id="9"/>
          <p:cNvGrpSpPr/>
          <p:nvPr/>
        </p:nvGrpSpPr>
        <p:grpSpPr>
          <a:xfrm rot="-6439809">
            <a:off x="7244660" y="1146999"/>
            <a:ext cx="1296486" cy="129648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B6CE6">
                    <a:alpha val="15000"/>
                  </a:srgbClr>
                </a:gs>
                <a:gs pos="100000">
                  <a:srgbClr val="543985">
                    <a:alpha val="0"/>
                  </a:srgbClr>
                </a:gs>
              </a:gsLst>
              <a:path path="circle">
                <a:fillToRect l="0" r="100000" t="0" b="100000"/>
              </a:path>
              <a:tileRect r="0" l="-100000" b="0" t="-100000"/>
            </a:gra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4837873" y="3776739"/>
            <a:ext cx="4486236" cy="448623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0" t="0" r="0" b="0"/>
              </a:stretch>
            </a:blipFill>
            <a:ln w="190500" cap="sq">
              <a:gradFill>
                <a:gsLst>
                  <a:gs pos="0">
                    <a:srgbClr val="CB6CE6">
                      <a:alpha val="100000"/>
                    </a:srgbClr>
                  </a:gs>
                  <a:gs pos="100000">
                    <a:srgbClr val="011030">
                      <a:alpha val="100000"/>
                    </a:srgbClr>
                  </a:gs>
                </a:gsLst>
                <a:path path="circle">
                  <a:fillToRect l="0" r="100000" t="0" b="100000"/>
                </a:path>
                <a:tileRect r="0" l="-100000" b="0" t="-100000"/>
              </a:gradFill>
              <a:prstDash val="solid"/>
              <a:miter/>
            </a:ln>
          </p:spPr>
        </p:sp>
      </p:grpSp>
      <p:sp>
        <p:nvSpPr>
          <p:cNvPr name="Freeform 14" id="14"/>
          <p:cNvSpPr/>
          <p:nvPr/>
        </p:nvSpPr>
        <p:spPr>
          <a:xfrm flipH="false" flipV="false" rot="0">
            <a:off x="14363175" y="8866922"/>
            <a:ext cx="4978965" cy="4114800"/>
          </a:xfrm>
          <a:custGeom>
            <a:avLst/>
            <a:gdLst/>
            <a:ahLst/>
            <a:cxnLst/>
            <a:rect r="r" b="b" t="t" l="l"/>
            <a:pathLst>
              <a:path h="4114800" w="4978965">
                <a:moveTo>
                  <a:pt x="0" y="0"/>
                </a:moveTo>
                <a:lnTo>
                  <a:pt x="4978965" y="0"/>
                </a:lnTo>
                <a:lnTo>
                  <a:pt x="4978965" y="4114800"/>
                </a:lnTo>
                <a:lnTo>
                  <a:pt x="0" y="4114800"/>
                </a:lnTo>
                <a:lnTo>
                  <a:pt x="0" y="0"/>
                </a:lnTo>
                <a:close/>
              </a:path>
            </a:pathLst>
          </a:custGeom>
          <a:blipFill>
            <a:blip r:embed="rId8">
              <a:alphaModFix amt="41000"/>
              <a:extLst>
                <a:ext uri="{96DAC541-7B7A-43D3-8B79-37D633B846F1}">
                  <asvg:svgBlip xmlns:asvg="http://schemas.microsoft.com/office/drawing/2016/SVG/main" r:embed="rId9"/>
                </a:ext>
              </a:extLst>
            </a:blip>
            <a:stretch>
              <a:fillRect l="0" t="0" r="0" b="0"/>
            </a:stretch>
          </a:blipFill>
        </p:spPr>
      </p:sp>
      <p:sp>
        <p:nvSpPr>
          <p:cNvPr name="TextBox 15" id="15"/>
          <p:cNvSpPr txBox="true"/>
          <p:nvPr/>
        </p:nvSpPr>
        <p:spPr>
          <a:xfrm rot="0">
            <a:off x="1487164" y="1025158"/>
            <a:ext cx="2235778" cy="349250"/>
          </a:xfrm>
          <a:prstGeom prst="rect">
            <a:avLst/>
          </a:prstGeom>
        </p:spPr>
        <p:txBody>
          <a:bodyPr anchor="t" rtlCol="false" tIns="0" lIns="0" bIns="0" rIns="0">
            <a:spAutoFit/>
          </a:bodyPr>
          <a:lstStyle/>
          <a:p>
            <a:pPr algn="l">
              <a:lnSpc>
                <a:spcPts val="2800"/>
              </a:lnSpc>
            </a:pPr>
            <a:r>
              <a:rPr lang="en-US" sz="2000" b="true">
                <a:solidFill>
                  <a:srgbClr val="EBE4ED"/>
                </a:solidFill>
                <a:latin typeface="TT Interphases Bold"/>
                <a:ea typeface="TT Interphases Bold"/>
                <a:cs typeface="TT Interphases Bold"/>
                <a:sym typeface="TT Interphases Bold"/>
              </a:rPr>
              <a:t>Kelompok 16</a:t>
            </a:r>
          </a:p>
        </p:txBody>
      </p:sp>
      <p:sp>
        <p:nvSpPr>
          <p:cNvPr name="TextBox 16" id="16"/>
          <p:cNvSpPr txBox="true"/>
          <p:nvPr/>
        </p:nvSpPr>
        <p:spPr>
          <a:xfrm rot="0">
            <a:off x="9999752" y="2099036"/>
            <a:ext cx="7780779" cy="1795059"/>
          </a:xfrm>
          <a:prstGeom prst="rect">
            <a:avLst/>
          </a:prstGeom>
        </p:spPr>
        <p:txBody>
          <a:bodyPr anchor="t" rtlCol="false" tIns="0" lIns="0" bIns="0" rIns="0">
            <a:spAutoFit/>
          </a:bodyPr>
          <a:lstStyle/>
          <a:p>
            <a:pPr algn="l">
              <a:lnSpc>
                <a:spcPts val="7044"/>
              </a:lnSpc>
            </a:pPr>
            <a:r>
              <a:rPr lang="en-US" sz="5821" b="true">
                <a:solidFill>
                  <a:srgbClr val="FFFFFF"/>
                </a:solidFill>
                <a:latin typeface="Inter Bold"/>
                <a:ea typeface="Inter Bold"/>
                <a:cs typeface="Inter Bold"/>
                <a:sym typeface="Inter Bold"/>
              </a:rPr>
              <a:t>Apa itu Pinjam Ruang FT V2?</a:t>
            </a:r>
          </a:p>
        </p:txBody>
      </p:sp>
      <p:sp>
        <p:nvSpPr>
          <p:cNvPr name="TextBox 17" id="17"/>
          <p:cNvSpPr txBox="true"/>
          <p:nvPr/>
        </p:nvSpPr>
        <p:spPr>
          <a:xfrm rot="0">
            <a:off x="9999752" y="4109575"/>
            <a:ext cx="7057724" cy="2806700"/>
          </a:xfrm>
          <a:prstGeom prst="rect">
            <a:avLst/>
          </a:prstGeom>
        </p:spPr>
        <p:txBody>
          <a:bodyPr anchor="t" rtlCol="false" tIns="0" lIns="0" bIns="0" rIns="0">
            <a:spAutoFit/>
          </a:bodyPr>
          <a:lstStyle/>
          <a:p>
            <a:pPr algn="l">
              <a:lnSpc>
                <a:spcPts val="2800"/>
              </a:lnSpc>
            </a:pPr>
            <a:r>
              <a:rPr lang="en-US" sz="2000">
                <a:solidFill>
                  <a:srgbClr val="FFFFFF"/>
                </a:solidFill>
                <a:latin typeface="Montserrat"/>
                <a:ea typeface="Montserrat"/>
                <a:cs typeface="Montserrat"/>
                <a:sym typeface="Montserrat"/>
              </a:rPr>
              <a:t>Merupakan upgrade dari website pinjam ruang FT yang masih kurang dari sisi integrasi dan visualisasi data pada web yang ada. Pada web ini, user dapat melakukan registrasi/login lalu memilih ruangan yang tersedia untuk dipinjam. Terdapat informasi seperti pada gedung k ada terdapat jumlah, nama, dan kapasitas dari masing-maisng ruangan yang bisa dipinjam.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5098736" y="2378632"/>
            <a:ext cx="5317504" cy="2989636"/>
          </a:xfrm>
          <a:custGeom>
            <a:avLst/>
            <a:gdLst/>
            <a:ahLst/>
            <a:cxnLst/>
            <a:rect r="r" b="b" t="t" l="l"/>
            <a:pathLst>
              <a:path h="2989636" w="5317504">
                <a:moveTo>
                  <a:pt x="0" y="0"/>
                </a:moveTo>
                <a:lnTo>
                  <a:pt x="5317504" y="0"/>
                </a:lnTo>
                <a:lnTo>
                  <a:pt x="5317504" y="2989636"/>
                </a:lnTo>
                <a:lnTo>
                  <a:pt x="0" y="2989636"/>
                </a:lnTo>
                <a:lnTo>
                  <a:pt x="0" y="0"/>
                </a:lnTo>
                <a:close/>
              </a:path>
            </a:pathLst>
          </a:custGeom>
          <a:blipFill>
            <a:blip r:embed="rId2"/>
            <a:stretch>
              <a:fillRect l="0" t="0" r="0" b="0"/>
            </a:stretch>
          </a:blipFill>
        </p:spPr>
      </p:sp>
      <p:sp>
        <p:nvSpPr>
          <p:cNvPr name="Freeform 3" id="3"/>
          <p:cNvSpPr/>
          <p:nvPr/>
        </p:nvSpPr>
        <p:spPr>
          <a:xfrm flipH="false" flipV="false" rot="0">
            <a:off x="938483" y="2378632"/>
            <a:ext cx="3684003" cy="2989636"/>
          </a:xfrm>
          <a:custGeom>
            <a:avLst/>
            <a:gdLst/>
            <a:ahLst/>
            <a:cxnLst/>
            <a:rect r="r" b="b" t="t" l="l"/>
            <a:pathLst>
              <a:path h="2989636" w="3684003">
                <a:moveTo>
                  <a:pt x="0" y="0"/>
                </a:moveTo>
                <a:lnTo>
                  <a:pt x="3684003" y="0"/>
                </a:lnTo>
                <a:lnTo>
                  <a:pt x="3684003" y="2989636"/>
                </a:lnTo>
                <a:lnTo>
                  <a:pt x="0" y="2989636"/>
                </a:lnTo>
                <a:lnTo>
                  <a:pt x="0" y="0"/>
                </a:lnTo>
                <a:close/>
              </a:path>
            </a:pathLst>
          </a:custGeom>
          <a:blipFill>
            <a:blip r:embed="rId3"/>
            <a:stretch>
              <a:fillRect l="0" t="0" r="0" b="0"/>
            </a:stretch>
          </a:blipFill>
        </p:spPr>
      </p:sp>
      <p:sp>
        <p:nvSpPr>
          <p:cNvPr name="Freeform 4" id="4"/>
          <p:cNvSpPr/>
          <p:nvPr/>
        </p:nvSpPr>
        <p:spPr>
          <a:xfrm flipH="false" flipV="false" rot="0">
            <a:off x="10892490" y="2378632"/>
            <a:ext cx="2902298" cy="2989636"/>
          </a:xfrm>
          <a:custGeom>
            <a:avLst/>
            <a:gdLst/>
            <a:ahLst/>
            <a:cxnLst/>
            <a:rect r="r" b="b" t="t" l="l"/>
            <a:pathLst>
              <a:path h="2989636" w="2902298">
                <a:moveTo>
                  <a:pt x="0" y="0"/>
                </a:moveTo>
                <a:lnTo>
                  <a:pt x="2902298" y="0"/>
                </a:lnTo>
                <a:lnTo>
                  <a:pt x="2902298" y="2989636"/>
                </a:lnTo>
                <a:lnTo>
                  <a:pt x="0" y="29896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232467" y="6330293"/>
            <a:ext cx="2989636" cy="2989636"/>
          </a:xfrm>
          <a:custGeom>
            <a:avLst/>
            <a:gdLst/>
            <a:ahLst/>
            <a:cxnLst/>
            <a:rect r="r" b="b" t="t" l="l"/>
            <a:pathLst>
              <a:path h="2989636" w="2989636">
                <a:moveTo>
                  <a:pt x="0" y="0"/>
                </a:moveTo>
                <a:lnTo>
                  <a:pt x="2989636" y="0"/>
                </a:lnTo>
                <a:lnTo>
                  <a:pt x="2989636" y="2989636"/>
                </a:lnTo>
                <a:lnTo>
                  <a:pt x="0" y="2989636"/>
                </a:lnTo>
                <a:lnTo>
                  <a:pt x="0" y="0"/>
                </a:lnTo>
                <a:close/>
              </a:path>
            </a:pathLst>
          </a:custGeom>
          <a:blipFill>
            <a:blip r:embed="rId6"/>
            <a:stretch>
              <a:fillRect l="0" t="0" r="0" b="0"/>
            </a:stretch>
          </a:blipFill>
        </p:spPr>
      </p:sp>
      <p:sp>
        <p:nvSpPr>
          <p:cNvPr name="Freeform 6" id="6"/>
          <p:cNvSpPr/>
          <p:nvPr/>
        </p:nvSpPr>
        <p:spPr>
          <a:xfrm flipH="false" flipV="false" rot="0">
            <a:off x="14363175" y="8866922"/>
            <a:ext cx="4978965" cy="4114800"/>
          </a:xfrm>
          <a:custGeom>
            <a:avLst/>
            <a:gdLst/>
            <a:ahLst/>
            <a:cxnLst/>
            <a:rect r="r" b="b" t="t" l="l"/>
            <a:pathLst>
              <a:path h="4114800" w="4978965">
                <a:moveTo>
                  <a:pt x="0" y="0"/>
                </a:moveTo>
                <a:lnTo>
                  <a:pt x="4978965" y="0"/>
                </a:lnTo>
                <a:lnTo>
                  <a:pt x="4978965" y="4114800"/>
                </a:lnTo>
                <a:lnTo>
                  <a:pt x="0" y="4114800"/>
                </a:lnTo>
                <a:lnTo>
                  <a:pt x="0" y="0"/>
                </a:lnTo>
                <a:close/>
              </a:path>
            </a:pathLst>
          </a:custGeom>
          <a:blipFill>
            <a:blip r:embed="rId7">
              <a:alphaModFix amt="41000"/>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664343" y="509554"/>
            <a:ext cx="7780779" cy="903358"/>
          </a:xfrm>
          <a:prstGeom prst="rect">
            <a:avLst/>
          </a:prstGeom>
        </p:spPr>
        <p:txBody>
          <a:bodyPr anchor="t" rtlCol="false" tIns="0" lIns="0" bIns="0" rIns="0">
            <a:spAutoFit/>
          </a:bodyPr>
          <a:lstStyle/>
          <a:p>
            <a:pPr algn="l">
              <a:lnSpc>
                <a:spcPts val="7044"/>
              </a:lnSpc>
            </a:pPr>
            <a:r>
              <a:rPr lang="en-US" sz="5821" b="true">
                <a:solidFill>
                  <a:srgbClr val="FFFFFF"/>
                </a:solidFill>
                <a:latin typeface="Inter Bold"/>
                <a:ea typeface="Inter Bold"/>
                <a:cs typeface="Inter Bold"/>
                <a:sym typeface="Inter Bold"/>
              </a:rPr>
              <a:t>Frameworks &amp; Tools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664343" y="1798757"/>
            <a:ext cx="6100630" cy="3698507"/>
          </a:xfrm>
          <a:custGeom>
            <a:avLst/>
            <a:gdLst/>
            <a:ahLst/>
            <a:cxnLst/>
            <a:rect r="r" b="b" t="t" l="l"/>
            <a:pathLst>
              <a:path h="3698507" w="6100630">
                <a:moveTo>
                  <a:pt x="0" y="0"/>
                </a:moveTo>
                <a:lnTo>
                  <a:pt x="6100629" y="0"/>
                </a:lnTo>
                <a:lnTo>
                  <a:pt x="6100629" y="3698507"/>
                </a:lnTo>
                <a:lnTo>
                  <a:pt x="0" y="3698507"/>
                </a:lnTo>
                <a:lnTo>
                  <a:pt x="0" y="0"/>
                </a:lnTo>
                <a:close/>
              </a:path>
            </a:pathLst>
          </a:custGeom>
          <a:blipFill>
            <a:blip r:embed="rId2"/>
            <a:stretch>
              <a:fillRect l="0" t="0" r="0" b="0"/>
            </a:stretch>
          </a:blipFill>
        </p:spPr>
      </p:sp>
      <p:sp>
        <p:nvSpPr>
          <p:cNvPr name="Freeform 3" id="3"/>
          <p:cNvSpPr/>
          <p:nvPr/>
        </p:nvSpPr>
        <p:spPr>
          <a:xfrm flipH="false" flipV="false" rot="0">
            <a:off x="8936825" y="1798757"/>
            <a:ext cx="7529586" cy="2384014"/>
          </a:xfrm>
          <a:custGeom>
            <a:avLst/>
            <a:gdLst/>
            <a:ahLst/>
            <a:cxnLst/>
            <a:rect r="r" b="b" t="t" l="l"/>
            <a:pathLst>
              <a:path h="2384014" w="7529586">
                <a:moveTo>
                  <a:pt x="0" y="0"/>
                </a:moveTo>
                <a:lnTo>
                  <a:pt x="7529586" y="0"/>
                </a:lnTo>
                <a:lnTo>
                  <a:pt x="7529586" y="2384014"/>
                </a:lnTo>
                <a:lnTo>
                  <a:pt x="0" y="2384014"/>
                </a:lnTo>
                <a:lnTo>
                  <a:pt x="0" y="0"/>
                </a:lnTo>
                <a:close/>
              </a:path>
            </a:pathLst>
          </a:custGeom>
          <a:blipFill>
            <a:blip r:embed="rId3"/>
            <a:stretch>
              <a:fillRect l="0" t="-3889" r="0" b="-3889"/>
            </a:stretch>
          </a:blipFill>
        </p:spPr>
      </p:sp>
      <p:sp>
        <p:nvSpPr>
          <p:cNvPr name="Freeform 4" id="4"/>
          <p:cNvSpPr/>
          <p:nvPr/>
        </p:nvSpPr>
        <p:spPr>
          <a:xfrm flipH="false" flipV="false" rot="0">
            <a:off x="664343" y="7950290"/>
            <a:ext cx="1866061" cy="975017"/>
          </a:xfrm>
          <a:custGeom>
            <a:avLst/>
            <a:gdLst/>
            <a:ahLst/>
            <a:cxnLst/>
            <a:rect r="r" b="b" t="t" l="l"/>
            <a:pathLst>
              <a:path h="975017" w="1866061">
                <a:moveTo>
                  <a:pt x="0" y="0"/>
                </a:moveTo>
                <a:lnTo>
                  <a:pt x="1866061" y="0"/>
                </a:lnTo>
                <a:lnTo>
                  <a:pt x="1866061" y="975017"/>
                </a:lnTo>
                <a:lnTo>
                  <a:pt x="0" y="975017"/>
                </a:lnTo>
                <a:lnTo>
                  <a:pt x="0" y="0"/>
                </a:lnTo>
                <a:close/>
              </a:path>
            </a:pathLst>
          </a:custGeom>
          <a:blipFill>
            <a:blip r:embed="rId4"/>
            <a:stretch>
              <a:fillRect l="0" t="0" r="0" b="0"/>
            </a:stretch>
          </a:blipFill>
        </p:spPr>
      </p:sp>
      <p:sp>
        <p:nvSpPr>
          <p:cNvPr name="Freeform 5" id="5"/>
          <p:cNvSpPr/>
          <p:nvPr/>
        </p:nvSpPr>
        <p:spPr>
          <a:xfrm flipH="false" flipV="false" rot="0">
            <a:off x="664343" y="6341179"/>
            <a:ext cx="6100630" cy="1609111"/>
          </a:xfrm>
          <a:custGeom>
            <a:avLst/>
            <a:gdLst/>
            <a:ahLst/>
            <a:cxnLst/>
            <a:rect r="r" b="b" t="t" l="l"/>
            <a:pathLst>
              <a:path h="1609111" w="6100630">
                <a:moveTo>
                  <a:pt x="0" y="0"/>
                </a:moveTo>
                <a:lnTo>
                  <a:pt x="6100629" y="0"/>
                </a:lnTo>
                <a:lnTo>
                  <a:pt x="6100629" y="1609111"/>
                </a:lnTo>
                <a:lnTo>
                  <a:pt x="0" y="1609111"/>
                </a:lnTo>
                <a:lnTo>
                  <a:pt x="0" y="0"/>
                </a:lnTo>
                <a:close/>
              </a:path>
            </a:pathLst>
          </a:custGeom>
          <a:blipFill>
            <a:blip r:embed="rId5"/>
            <a:stretch>
              <a:fillRect l="0" t="0" r="0" b="0"/>
            </a:stretch>
          </a:blipFill>
        </p:spPr>
      </p:sp>
      <p:sp>
        <p:nvSpPr>
          <p:cNvPr name="TextBox 6" id="6"/>
          <p:cNvSpPr txBox="true"/>
          <p:nvPr/>
        </p:nvSpPr>
        <p:spPr>
          <a:xfrm rot="0">
            <a:off x="664343" y="509554"/>
            <a:ext cx="7780779" cy="903358"/>
          </a:xfrm>
          <a:prstGeom prst="rect">
            <a:avLst/>
          </a:prstGeom>
        </p:spPr>
        <p:txBody>
          <a:bodyPr anchor="t" rtlCol="false" tIns="0" lIns="0" bIns="0" rIns="0">
            <a:spAutoFit/>
          </a:bodyPr>
          <a:lstStyle/>
          <a:p>
            <a:pPr algn="l">
              <a:lnSpc>
                <a:spcPts val="7044"/>
              </a:lnSpc>
            </a:pPr>
            <a:r>
              <a:rPr lang="en-US" sz="5821" b="true">
                <a:solidFill>
                  <a:srgbClr val="FFFFFF"/>
                </a:solidFill>
                <a:latin typeface="Inter Bold"/>
                <a:ea typeface="Inter Bold"/>
                <a:cs typeface="Inter Bold"/>
                <a:sym typeface="Inter Bold"/>
              </a:rPr>
              <a:t>External Module</a:t>
            </a:r>
          </a:p>
        </p:txBody>
      </p:sp>
      <p:sp>
        <p:nvSpPr>
          <p:cNvPr name="TextBox 7" id="7"/>
          <p:cNvSpPr txBox="true"/>
          <p:nvPr/>
        </p:nvSpPr>
        <p:spPr>
          <a:xfrm rot="0">
            <a:off x="664343" y="5487739"/>
            <a:ext cx="3890390" cy="538480"/>
          </a:xfrm>
          <a:prstGeom prst="rect">
            <a:avLst/>
          </a:prstGeom>
        </p:spPr>
        <p:txBody>
          <a:bodyPr anchor="t" rtlCol="false" tIns="0" lIns="0" bIns="0" rIns="0">
            <a:spAutoFit/>
          </a:bodyPr>
          <a:lstStyle/>
          <a:p>
            <a:pPr algn="l">
              <a:lnSpc>
                <a:spcPts val="4234"/>
              </a:lnSpc>
            </a:pPr>
            <a:r>
              <a:rPr lang="en-US" sz="3499">
                <a:solidFill>
                  <a:srgbClr val="FFFFFF"/>
                </a:solidFill>
                <a:latin typeface="Inter"/>
                <a:ea typeface="Inter"/>
                <a:cs typeface="Inter"/>
                <a:sym typeface="Inter"/>
              </a:rPr>
              <a:t>JSONWEBTOKEN</a:t>
            </a:r>
          </a:p>
        </p:txBody>
      </p:sp>
      <p:sp>
        <p:nvSpPr>
          <p:cNvPr name="TextBox 8" id="8"/>
          <p:cNvSpPr txBox="true"/>
          <p:nvPr/>
        </p:nvSpPr>
        <p:spPr>
          <a:xfrm rot="0">
            <a:off x="9144000" y="4329794"/>
            <a:ext cx="7780779" cy="538480"/>
          </a:xfrm>
          <a:prstGeom prst="rect">
            <a:avLst/>
          </a:prstGeom>
        </p:spPr>
        <p:txBody>
          <a:bodyPr anchor="t" rtlCol="false" tIns="0" lIns="0" bIns="0" rIns="0">
            <a:spAutoFit/>
          </a:bodyPr>
          <a:lstStyle/>
          <a:p>
            <a:pPr algn="l">
              <a:lnSpc>
                <a:spcPts val="4234"/>
              </a:lnSpc>
            </a:pPr>
            <a:r>
              <a:rPr lang="en-US" sz="3499">
                <a:solidFill>
                  <a:srgbClr val="FFFFFF"/>
                </a:solidFill>
                <a:latin typeface="Inter"/>
                <a:ea typeface="Inter"/>
                <a:cs typeface="Inter"/>
                <a:sym typeface="Inter"/>
              </a:rPr>
              <a:t>BCRYPT</a:t>
            </a:r>
          </a:p>
        </p:txBody>
      </p:sp>
      <p:sp>
        <p:nvSpPr>
          <p:cNvPr name="Freeform 9" id="9"/>
          <p:cNvSpPr/>
          <p:nvPr/>
        </p:nvSpPr>
        <p:spPr>
          <a:xfrm flipH="false" flipV="false" rot="0">
            <a:off x="14363175" y="8866922"/>
            <a:ext cx="4978965" cy="4114800"/>
          </a:xfrm>
          <a:custGeom>
            <a:avLst/>
            <a:gdLst/>
            <a:ahLst/>
            <a:cxnLst/>
            <a:rect r="r" b="b" t="t" l="l"/>
            <a:pathLst>
              <a:path h="4114800" w="4978965">
                <a:moveTo>
                  <a:pt x="0" y="0"/>
                </a:moveTo>
                <a:lnTo>
                  <a:pt x="4978965" y="0"/>
                </a:lnTo>
                <a:lnTo>
                  <a:pt x="4978965" y="4114800"/>
                </a:lnTo>
                <a:lnTo>
                  <a:pt x="0" y="4114800"/>
                </a:lnTo>
                <a:lnTo>
                  <a:pt x="0" y="0"/>
                </a:lnTo>
                <a:close/>
              </a:path>
            </a:pathLst>
          </a:custGeom>
          <a:blipFill>
            <a:blip r:embed="rId6">
              <a:alphaModFix amt="41000"/>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5133043" y="-8798373"/>
            <a:ext cx="16287741" cy="16287741"/>
          </a:xfrm>
          <a:custGeom>
            <a:avLst/>
            <a:gdLst/>
            <a:ahLst/>
            <a:cxnLst/>
            <a:rect r="r" b="b" t="t" l="l"/>
            <a:pathLst>
              <a:path h="16287741" w="16287741">
                <a:moveTo>
                  <a:pt x="0" y="0"/>
                </a:moveTo>
                <a:lnTo>
                  <a:pt x="16287741" y="0"/>
                </a:lnTo>
                <a:lnTo>
                  <a:pt x="16287741" y="16287741"/>
                </a:lnTo>
                <a:lnTo>
                  <a:pt x="0" y="16287741"/>
                </a:lnTo>
                <a:lnTo>
                  <a:pt x="0" y="0"/>
                </a:lnTo>
                <a:close/>
              </a:path>
            </a:pathLst>
          </a:custGeom>
          <a:blipFill>
            <a:blip r:embed="rId2">
              <a:alphaModFix amt="4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524190"/>
            <a:ext cx="4708988" cy="5742668"/>
          </a:xfrm>
          <a:custGeom>
            <a:avLst/>
            <a:gdLst/>
            <a:ahLst/>
            <a:cxnLst/>
            <a:rect r="r" b="b" t="t" l="l"/>
            <a:pathLst>
              <a:path h="5742668" w="4708988">
                <a:moveTo>
                  <a:pt x="0" y="0"/>
                </a:moveTo>
                <a:lnTo>
                  <a:pt x="4708988" y="0"/>
                </a:lnTo>
                <a:lnTo>
                  <a:pt x="4708988" y="5742668"/>
                </a:lnTo>
                <a:lnTo>
                  <a:pt x="0" y="5742668"/>
                </a:lnTo>
                <a:lnTo>
                  <a:pt x="0" y="0"/>
                </a:lnTo>
                <a:close/>
              </a:path>
            </a:pathLst>
          </a:custGeom>
          <a:blipFill>
            <a:blip r:embed="rId4"/>
            <a:stretch>
              <a:fillRect l="0" t="0" r="0" b="0"/>
            </a:stretch>
          </a:blipFill>
        </p:spPr>
      </p:sp>
      <p:sp>
        <p:nvSpPr>
          <p:cNvPr name="Freeform 4" id="4"/>
          <p:cNvSpPr/>
          <p:nvPr/>
        </p:nvSpPr>
        <p:spPr>
          <a:xfrm flipH="false" flipV="false" rot="0">
            <a:off x="1028700" y="7242020"/>
            <a:ext cx="4708988" cy="2236769"/>
          </a:xfrm>
          <a:custGeom>
            <a:avLst/>
            <a:gdLst/>
            <a:ahLst/>
            <a:cxnLst/>
            <a:rect r="r" b="b" t="t" l="l"/>
            <a:pathLst>
              <a:path h="2236769" w="4708988">
                <a:moveTo>
                  <a:pt x="0" y="0"/>
                </a:moveTo>
                <a:lnTo>
                  <a:pt x="4708988" y="0"/>
                </a:lnTo>
                <a:lnTo>
                  <a:pt x="4708988" y="2236770"/>
                </a:lnTo>
                <a:lnTo>
                  <a:pt x="0" y="2236770"/>
                </a:lnTo>
                <a:lnTo>
                  <a:pt x="0" y="0"/>
                </a:lnTo>
                <a:close/>
              </a:path>
            </a:pathLst>
          </a:custGeom>
          <a:blipFill>
            <a:blip r:embed="rId5"/>
            <a:stretch>
              <a:fillRect l="0" t="0" r="0" b="0"/>
            </a:stretch>
          </a:blipFill>
        </p:spPr>
      </p:sp>
      <p:sp>
        <p:nvSpPr>
          <p:cNvPr name="Freeform 5" id="5"/>
          <p:cNvSpPr/>
          <p:nvPr/>
        </p:nvSpPr>
        <p:spPr>
          <a:xfrm flipH="false" flipV="false" rot="0">
            <a:off x="5737688" y="1524190"/>
            <a:ext cx="4708988" cy="2236769"/>
          </a:xfrm>
          <a:custGeom>
            <a:avLst/>
            <a:gdLst/>
            <a:ahLst/>
            <a:cxnLst/>
            <a:rect r="r" b="b" t="t" l="l"/>
            <a:pathLst>
              <a:path h="2236769" w="4708988">
                <a:moveTo>
                  <a:pt x="0" y="0"/>
                </a:moveTo>
                <a:lnTo>
                  <a:pt x="4708988" y="0"/>
                </a:lnTo>
                <a:lnTo>
                  <a:pt x="4708988" y="2236769"/>
                </a:lnTo>
                <a:lnTo>
                  <a:pt x="0" y="2236769"/>
                </a:lnTo>
                <a:lnTo>
                  <a:pt x="0" y="0"/>
                </a:lnTo>
                <a:close/>
              </a:path>
            </a:pathLst>
          </a:custGeom>
          <a:blipFill>
            <a:blip r:embed="rId6"/>
            <a:stretch>
              <a:fillRect l="0" t="0" r="0" b="0"/>
            </a:stretch>
          </a:blipFill>
        </p:spPr>
      </p:sp>
      <p:sp>
        <p:nvSpPr>
          <p:cNvPr name="Freeform 6" id="6"/>
          <p:cNvSpPr/>
          <p:nvPr/>
        </p:nvSpPr>
        <p:spPr>
          <a:xfrm flipH="false" flipV="false" rot="0">
            <a:off x="5737688" y="3760959"/>
            <a:ext cx="4708988" cy="4361700"/>
          </a:xfrm>
          <a:custGeom>
            <a:avLst/>
            <a:gdLst/>
            <a:ahLst/>
            <a:cxnLst/>
            <a:rect r="r" b="b" t="t" l="l"/>
            <a:pathLst>
              <a:path h="4361700" w="4708988">
                <a:moveTo>
                  <a:pt x="0" y="0"/>
                </a:moveTo>
                <a:lnTo>
                  <a:pt x="4708988" y="0"/>
                </a:lnTo>
                <a:lnTo>
                  <a:pt x="4708988" y="4361700"/>
                </a:lnTo>
                <a:lnTo>
                  <a:pt x="0" y="4361700"/>
                </a:lnTo>
                <a:lnTo>
                  <a:pt x="0" y="0"/>
                </a:lnTo>
                <a:close/>
              </a:path>
            </a:pathLst>
          </a:custGeom>
          <a:blipFill>
            <a:blip r:embed="rId7"/>
            <a:stretch>
              <a:fillRect l="0" t="0" r="0" b="0"/>
            </a:stretch>
          </a:blipFill>
        </p:spPr>
      </p:sp>
      <p:sp>
        <p:nvSpPr>
          <p:cNvPr name="Freeform 7" id="7"/>
          <p:cNvSpPr/>
          <p:nvPr/>
        </p:nvSpPr>
        <p:spPr>
          <a:xfrm flipH="false" flipV="false" rot="0">
            <a:off x="10446676" y="1524190"/>
            <a:ext cx="3470682" cy="7734110"/>
          </a:xfrm>
          <a:custGeom>
            <a:avLst/>
            <a:gdLst/>
            <a:ahLst/>
            <a:cxnLst/>
            <a:rect r="r" b="b" t="t" l="l"/>
            <a:pathLst>
              <a:path h="7734110" w="3470682">
                <a:moveTo>
                  <a:pt x="0" y="0"/>
                </a:moveTo>
                <a:lnTo>
                  <a:pt x="3470682" y="0"/>
                </a:lnTo>
                <a:lnTo>
                  <a:pt x="3470682" y="7734110"/>
                </a:lnTo>
                <a:lnTo>
                  <a:pt x="0" y="7734110"/>
                </a:lnTo>
                <a:lnTo>
                  <a:pt x="0" y="0"/>
                </a:lnTo>
                <a:close/>
              </a:path>
            </a:pathLst>
          </a:custGeom>
          <a:blipFill>
            <a:blip r:embed="rId8"/>
            <a:stretch>
              <a:fillRect l="0" t="0" r="0" b="0"/>
            </a:stretch>
          </a:blipFill>
        </p:spPr>
      </p:sp>
      <p:sp>
        <p:nvSpPr>
          <p:cNvPr name="Freeform 8" id="8"/>
          <p:cNvSpPr/>
          <p:nvPr/>
        </p:nvSpPr>
        <p:spPr>
          <a:xfrm flipH="false" flipV="false" rot="0">
            <a:off x="13917358" y="1524190"/>
            <a:ext cx="2637118" cy="3619310"/>
          </a:xfrm>
          <a:custGeom>
            <a:avLst/>
            <a:gdLst/>
            <a:ahLst/>
            <a:cxnLst/>
            <a:rect r="r" b="b" t="t" l="l"/>
            <a:pathLst>
              <a:path h="3619310" w="2637118">
                <a:moveTo>
                  <a:pt x="0" y="0"/>
                </a:moveTo>
                <a:lnTo>
                  <a:pt x="2637119" y="0"/>
                </a:lnTo>
                <a:lnTo>
                  <a:pt x="2637119" y="3619310"/>
                </a:lnTo>
                <a:lnTo>
                  <a:pt x="0" y="3619310"/>
                </a:lnTo>
                <a:lnTo>
                  <a:pt x="0" y="0"/>
                </a:lnTo>
                <a:close/>
              </a:path>
            </a:pathLst>
          </a:custGeom>
          <a:blipFill>
            <a:blip r:embed="rId9"/>
            <a:stretch>
              <a:fillRect l="0" t="0" r="0" b="0"/>
            </a:stretch>
          </a:blipFill>
        </p:spPr>
      </p:sp>
      <p:sp>
        <p:nvSpPr>
          <p:cNvPr name="TextBox 9" id="9"/>
          <p:cNvSpPr txBox="true"/>
          <p:nvPr/>
        </p:nvSpPr>
        <p:spPr>
          <a:xfrm rot="0">
            <a:off x="664343" y="509554"/>
            <a:ext cx="7780779" cy="903358"/>
          </a:xfrm>
          <a:prstGeom prst="rect">
            <a:avLst/>
          </a:prstGeom>
        </p:spPr>
        <p:txBody>
          <a:bodyPr anchor="t" rtlCol="false" tIns="0" lIns="0" bIns="0" rIns="0">
            <a:spAutoFit/>
          </a:bodyPr>
          <a:lstStyle/>
          <a:p>
            <a:pPr algn="l">
              <a:lnSpc>
                <a:spcPts val="7044"/>
              </a:lnSpc>
            </a:pPr>
            <a:r>
              <a:rPr lang="en-US" sz="5821" b="true">
                <a:solidFill>
                  <a:srgbClr val="FFFFFF"/>
                </a:solidFill>
                <a:latin typeface="Inter Bold"/>
                <a:ea typeface="Inter Bold"/>
                <a:cs typeface="Inter Bold"/>
                <a:sym typeface="Inter Bold"/>
              </a:rPr>
              <a:t>Tampilan Website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5601814" y="-9063918"/>
            <a:ext cx="16287741" cy="16287741"/>
          </a:xfrm>
          <a:custGeom>
            <a:avLst/>
            <a:gdLst/>
            <a:ahLst/>
            <a:cxnLst/>
            <a:rect r="r" b="b" t="t" l="l"/>
            <a:pathLst>
              <a:path h="16287741" w="16287741">
                <a:moveTo>
                  <a:pt x="0" y="0"/>
                </a:moveTo>
                <a:lnTo>
                  <a:pt x="16287741" y="0"/>
                </a:lnTo>
                <a:lnTo>
                  <a:pt x="16287741" y="16287741"/>
                </a:lnTo>
                <a:lnTo>
                  <a:pt x="0" y="16287741"/>
                </a:lnTo>
                <a:lnTo>
                  <a:pt x="0" y="0"/>
                </a:lnTo>
                <a:close/>
              </a:path>
            </a:pathLst>
          </a:custGeom>
          <a:blipFill>
            <a:blip r:embed="rId2">
              <a:alphaModFix amt="4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43940" y="1528164"/>
            <a:ext cx="4609094" cy="7730136"/>
          </a:xfrm>
          <a:custGeom>
            <a:avLst/>
            <a:gdLst/>
            <a:ahLst/>
            <a:cxnLst/>
            <a:rect r="r" b="b" t="t" l="l"/>
            <a:pathLst>
              <a:path h="7730136" w="4609094">
                <a:moveTo>
                  <a:pt x="0" y="0"/>
                </a:moveTo>
                <a:lnTo>
                  <a:pt x="4609094" y="0"/>
                </a:lnTo>
                <a:lnTo>
                  <a:pt x="4609094" y="7730136"/>
                </a:lnTo>
                <a:lnTo>
                  <a:pt x="0" y="7730136"/>
                </a:lnTo>
                <a:lnTo>
                  <a:pt x="0" y="0"/>
                </a:lnTo>
                <a:close/>
              </a:path>
            </a:pathLst>
          </a:custGeom>
          <a:blipFill>
            <a:blip r:embed="rId4"/>
            <a:stretch>
              <a:fillRect l="0" t="0" r="0" b="0"/>
            </a:stretch>
          </a:blipFill>
        </p:spPr>
      </p:sp>
      <p:sp>
        <p:nvSpPr>
          <p:cNvPr name="Freeform 4" id="4"/>
          <p:cNvSpPr/>
          <p:nvPr/>
        </p:nvSpPr>
        <p:spPr>
          <a:xfrm flipH="false" flipV="false" rot="0">
            <a:off x="9853034" y="1528164"/>
            <a:ext cx="7545947" cy="3373726"/>
          </a:xfrm>
          <a:custGeom>
            <a:avLst/>
            <a:gdLst/>
            <a:ahLst/>
            <a:cxnLst/>
            <a:rect r="r" b="b" t="t" l="l"/>
            <a:pathLst>
              <a:path h="3373726" w="7545947">
                <a:moveTo>
                  <a:pt x="0" y="0"/>
                </a:moveTo>
                <a:lnTo>
                  <a:pt x="7545948" y="0"/>
                </a:lnTo>
                <a:lnTo>
                  <a:pt x="7545948" y="3373726"/>
                </a:lnTo>
                <a:lnTo>
                  <a:pt x="0" y="3373726"/>
                </a:lnTo>
                <a:lnTo>
                  <a:pt x="0" y="0"/>
                </a:lnTo>
                <a:close/>
              </a:path>
            </a:pathLst>
          </a:custGeom>
          <a:blipFill>
            <a:blip r:embed="rId5"/>
            <a:stretch>
              <a:fillRect l="-31745" t="-19330" r="-31784" b="0"/>
            </a:stretch>
          </a:blipFill>
        </p:spPr>
      </p:sp>
      <p:sp>
        <p:nvSpPr>
          <p:cNvPr name="Freeform 5" id="5"/>
          <p:cNvSpPr/>
          <p:nvPr/>
        </p:nvSpPr>
        <p:spPr>
          <a:xfrm flipH="false" flipV="false" rot="0">
            <a:off x="1014224" y="1528164"/>
            <a:ext cx="4267511" cy="7730136"/>
          </a:xfrm>
          <a:custGeom>
            <a:avLst/>
            <a:gdLst/>
            <a:ahLst/>
            <a:cxnLst/>
            <a:rect r="r" b="b" t="t" l="l"/>
            <a:pathLst>
              <a:path h="7730136" w="4267511">
                <a:moveTo>
                  <a:pt x="0" y="0"/>
                </a:moveTo>
                <a:lnTo>
                  <a:pt x="4267512" y="0"/>
                </a:lnTo>
                <a:lnTo>
                  <a:pt x="4267512" y="7730136"/>
                </a:lnTo>
                <a:lnTo>
                  <a:pt x="0" y="7730136"/>
                </a:lnTo>
                <a:lnTo>
                  <a:pt x="0" y="0"/>
                </a:lnTo>
                <a:close/>
              </a:path>
            </a:pathLst>
          </a:custGeom>
          <a:blipFill>
            <a:blip r:embed="rId6"/>
            <a:stretch>
              <a:fillRect l="-69089" t="-6314" r="-67566" b="0"/>
            </a:stretch>
          </a:blipFill>
        </p:spPr>
      </p:sp>
      <p:sp>
        <p:nvSpPr>
          <p:cNvPr name="Freeform 6" id="6"/>
          <p:cNvSpPr/>
          <p:nvPr/>
        </p:nvSpPr>
        <p:spPr>
          <a:xfrm flipH="false" flipV="false" rot="0">
            <a:off x="9853034" y="4830418"/>
            <a:ext cx="7545947" cy="4427882"/>
          </a:xfrm>
          <a:custGeom>
            <a:avLst/>
            <a:gdLst/>
            <a:ahLst/>
            <a:cxnLst/>
            <a:rect r="r" b="b" t="t" l="l"/>
            <a:pathLst>
              <a:path h="4427882" w="7545947">
                <a:moveTo>
                  <a:pt x="0" y="0"/>
                </a:moveTo>
                <a:lnTo>
                  <a:pt x="7545948" y="0"/>
                </a:lnTo>
                <a:lnTo>
                  <a:pt x="7545948" y="4427882"/>
                </a:lnTo>
                <a:lnTo>
                  <a:pt x="0" y="4427882"/>
                </a:lnTo>
                <a:lnTo>
                  <a:pt x="0" y="0"/>
                </a:lnTo>
                <a:close/>
              </a:path>
            </a:pathLst>
          </a:custGeom>
          <a:blipFill>
            <a:blip r:embed="rId7"/>
            <a:stretch>
              <a:fillRect l="-32780" t="-15073" r="-32922" b="0"/>
            </a:stretch>
          </a:blipFill>
        </p:spPr>
      </p:sp>
      <p:sp>
        <p:nvSpPr>
          <p:cNvPr name="TextBox 7" id="7"/>
          <p:cNvSpPr txBox="true"/>
          <p:nvPr/>
        </p:nvSpPr>
        <p:spPr>
          <a:xfrm rot="0">
            <a:off x="664343" y="509554"/>
            <a:ext cx="7780779" cy="903358"/>
          </a:xfrm>
          <a:prstGeom prst="rect">
            <a:avLst/>
          </a:prstGeom>
        </p:spPr>
        <p:txBody>
          <a:bodyPr anchor="t" rtlCol="false" tIns="0" lIns="0" bIns="0" rIns="0">
            <a:spAutoFit/>
          </a:bodyPr>
          <a:lstStyle/>
          <a:p>
            <a:pPr algn="l">
              <a:lnSpc>
                <a:spcPts val="7044"/>
              </a:lnSpc>
            </a:pPr>
            <a:r>
              <a:rPr lang="en-US" sz="5821" b="true">
                <a:solidFill>
                  <a:srgbClr val="FFFFFF"/>
                </a:solidFill>
                <a:latin typeface="Inter Bold"/>
                <a:ea typeface="Inter Bold"/>
                <a:cs typeface="Inter Bold"/>
                <a:sym typeface="Inter Bold"/>
              </a:rPr>
              <a:t>Tampilan Website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5601814" y="-9063918"/>
            <a:ext cx="16287741" cy="16287741"/>
          </a:xfrm>
          <a:custGeom>
            <a:avLst/>
            <a:gdLst/>
            <a:ahLst/>
            <a:cxnLst/>
            <a:rect r="r" b="b" t="t" l="l"/>
            <a:pathLst>
              <a:path h="16287741" w="16287741">
                <a:moveTo>
                  <a:pt x="0" y="0"/>
                </a:moveTo>
                <a:lnTo>
                  <a:pt x="16287741" y="0"/>
                </a:lnTo>
                <a:lnTo>
                  <a:pt x="16287741" y="16287741"/>
                </a:lnTo>
                <a:lnTo>
                  <a:pt x="0" y="16287741"/>
                </a:lnTo>
                <a:lnTo>
                  <a:pt x="0" y="0"/>
                </a:lnTo>
                <a:close/>
              </a:path>
            </a:pathLst>
          </a:custGeom>
          <a:blipFill>
            <a:blip r:embed="rId2">
              <a:alphaModFix amt="4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56461" y="1563432"/>
            <a:ext cx="6784102" cy="4871563"/>
          </a:xfrm>
          <a:custGeom>
            <a:avLst/>
            <a:gdLst/>
            <a:ahLst/>
            <a:cxnLst/>
            <a:rect r="r" b="b" t="t" l="l"/>
            <a:pathLst>
              <a:path h="4871563" w="6784102">
                <a:moveTo>
                  <a:pt x="0" y="0"/>
                </a:moveTo>
                <a:lnTo>
                  <a:pt x="6784102" y="0"/>
                </a:lnTo>
                <a:lnTo>
                  <a:pt x="6784102" y="4871563"/>
                </a:lnTo>
                <a:lnTo>
                  <a:pt x="0" y="4871563"/>
                </a:lnTo>
                <a:lnTo>
                  <a:pt x="0" y="0"/>
                </a:lnTo>
                <a:close/>
              </a:path>
            </a:pathLst>
          </a:custGeom>
          <a:blipFill>
            <a:blip r:embed="rId4"/>
            <a:stretch>
              <a:fillRect l="-10336" t="-8940" r="-10015" b="0"/>
            </a:stretch>
          </a:blipFill>
        </p:spPr>
      </p:sp>
      <p:sp>
        <p:nvSpPr>
          <p:cNvPr name="Freeform 4" id="4"/>
          <p:cNvSpPr/>
          <p:nvPr/>
        </p:nvSpPr>
        <p:spPr>
          <a:xfrm flipH="false" flipV="false" rot="0">
            <a:off x="1028700" y="1563432"/>
            <a:ext cx="4327761" cy="4871563"/>
          </a:xfrm>
          <a:custGeom>
            <a:avLst/>
            <a:gdLst/>
            <a:ahLst/>
            <a:cxnLst/>
            <a:rect r="r" b="b" t="t" l="l"/>
            <a:pathLst>
              <a:path h="4871563" w="4327761">
                <a:moveTo>
                  <a:pt x="0" y="0"/>
                </a:moveTo>
                <a:lnTo>
                  <a:pt x="4327761" y="0"/>
                </a:lnTo>
                <a:lnTo>
                  <a:pt x="4327761" y="4871563"/>
                </a:lnTo>
                <a:lnTo>
                  <a:pt x="0" y="4871563"/>
                </a:lnTo>
                <a:lnTo>
                  <a:pt x="0" y="0"/>
                </a:lnTo>
                <a:close/>
              </a:path>
            </a:pathLst>
          </a:custGeom>
          <a:blipFill>
            <a:blip r:embed="rId5"/>
            <a:stretch>
              <a:fillRect l="-66094" t="-11376" r="-64060" b="-4401"/>
            </a:stretch>
          </a:blipFill>
        </p:spPr>
      </p:sp>
      <p:sp>
        <p:nvSpPr>
          <p:cNvPr name="Freeform 5" id="5"/>
          <p:cNvSpPr/>
          <p:nvPr/>
        </p:nvSpPr>
        <p:spPr>
          <a:xfrm flipH="false" flipV="false" rot="0">
            <a:off x="12140563" y="1563432"/>
            <a:ext cx="5132268" cy="4871563"/>
          </a:xfrm>
          <a:custGeom>
            <a:avLst/>
            <a:gdLst/>
            <a:ahLst/>
            <a:cxnLst/>
            <a:rect r="r" b="b" t="t" l="l"/>
            <a:pathLst>
              <a:path h="4871563" w="5132268">
                <a:moveTo>
                  <a:pt x="0" y="0"/>
                </a:moveTo>
                <a:lnTo>
                  <a:pt x="5132268" y="0"/>
                </a:lnTo>
                <a:lnTo>
                  <a:pt x="5132268" y="4871563"/>
                </a:lnTo>
                <a:lnTo>
                  <a:pt x="0" y="4871563"/>
                </a:lnTo>
                <a:lnTo>
                  <a:pt x="0" y="0"/>
                </a:lnTo>
                <a:close/>
              </a:path>
            </a:pathLst>
          </a:custGeom>
          <a:blipFill>
            <a:blip r:embed="rId6"/>
            <a:stretch>
              <a:fillRect l="-30731" t="-8993" r="-32513" b="0"/>
            </a:stretch>
          </a:blipFill>
        </p:spPr>
      </p:sp>
      <p:sp>
        <p:nvSpPr>
          <p:cNvPr name="TextBox 6" id="6"/>
          <p:cNvSpPr txBox="true"/>
          <p:nvPr/>
        </p:nvSpPr>
        <p:spPr>
          <a:xfrm rot="0">
            <a:off x="664343" y="509554"/>
            <a:ext cx="7780779" cy="903358"/>
          </a:xfrm>
          <a:prstGeom prst="rect">
            <a:avLst/>
          </a:prstGeom>
        </p:spPr>
        <p:txBody>
          <a:bodyPr anchor="t" rtlCol="false" tIns="0" lIns="0" bIns="0" rIns="0">
            <a:spAutoFit/>
          </a:bodyPr>
          <a:lstStyle/>
          <a:p>
            <a:pPr algn="l">
              <a:lnSpc>
                <a:spcPts val="7044"/>
              </a:lnSpc>
            </a:pPr>
            <a:r>
              <a:rPr lang="en-US" sz="5821" b="true">
                <a:solidFill>
                  <a:srgbClr val="FFFFFF"/>
                </a:solidFill>
                <a:latin typeface="Inter Bold"/>
                <a:ea typeface="Inter Bold"/>
                <a:cs typeface="Inter Bold"/>
                <a:sym typeface="Inter Bold"/>
              </a:rPr>
              <a:t>Tampilan Website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4768685" y="-9085843"/>
            <a:ext cx="16287741" cy="16287741"/>
          </a:xfrm>
          <a:custGeom>
            <a:avLst/>
            <a:gdLst/>
            <a:ahLst/>
            <a:cxnLst/>
            <a:rect r="r" b="b" t="t" l="l"/>
            <a:pathLst>
              <a:path h="16287741" w="16287741">
                <a:moveTo>
                  <a:pt x="0" y="0"/>
                </a:moveTo>
                <a:lnTo>
                  <a:pt x="16287741" y="0"/>
                </a:lnTo>
                <a:lnTo>
                  <a:pt x="16287741" y="16287741"/>
                </a:lnTo>
                <a:lnTo>
                  <a:pt x="0" y="16287741"/>
                </a:lnTo>
                <a:lnTo>
                  <a:pt x="0" y="0"/>
                </a:lnTo>
                <a:close/>
              </a:path>
            </a:pathLst>
          </a:custGeom>
          <a:blipFill>
            <a:blip r:embed="rId2">
              <a:alphaModFix amt="4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346427" cy="389642"/>
          </a:xfrm>
          <a:custGeom>
            <a:avLst/>
            <a:gdLst/>
            <a:ahLst/>
            <a:cxnLst/>
            <a:rect r="r" b="b" t="t" l="l"/>
            <a:pathLst>
              <a:path h="389642" w="346427">
                <a:moveTo>
                  <a:pt x="0" y="0"/>
                </a:moveTo>
                <a:lnTo>
                  <a:pt x="346427" y="0"/>
                </a:lnTo>
                <a:lnTo>
                  <a:pt x="346427" y="389642"/>
                </a:lnTo>
                <a:lnTo>
                  <a:pt x="0" y="3896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8251739" y="2230161"/>
            <a:ext cx="10393753" cy="1039375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20087" t="-1124" r="-29892" b="-4877"/>
              </a:stretch>
            </a:blipFill>
            <a:ln w="190500" cap="sq">
              <a:gradFill>
                <a:gsLst>
                  <a:gs pos="0">
                    <a:srgbClr val="CB6CE6">
                      <a:alpha val="100000"/>
                    </a:srgbClr>
                  </a:gs>
                  <a:gs pos="100000">
                    <a:srgbClr val="011030">
                      <a:alpha val="100000"/>
                    </a:srgbClr>
                  </a:gs>
                </a:gsLst>
                <a:path path="circle">
                  <a:fillToRect l="0" r="100000" t="0" b="100000"/>
                </a:path>
                <a:tileRect r="0" l="-100000" b="0" t="-100000"/>
              </a:gradFill>
              <a:prstDash val="solid"/>
              <a:miter/>
            </a:ln>
          </p:spPr>
        </p:sp>
      </p:grpSp>
      <p:grpSp>
        <p:nvGrpSpPr>
          <p:cNvPr name="Group 6" id="6"/>
          <p:cNvGrpSpPr/>
          <p:nvPr/>
        </p:nvGrpSpPr>
        <p:grpSpPr>
          <a:xfrm rot="-5273592">
            <a:off x="8294822" y="2583166"/>
            <a:ext cx="2387776" cy="238777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B6CE6">
                    <a:alpha val="14000"/>
                  </a:srgbClr>
                </a:gs>
                <a:gs pos="100000">
                  <a:srgbClr val="543985">
                    <a:alpha val="0"/>
                  </a:srgbClr>
                </a:gs>
              </a:gsLst>
              <a:path path="circle">
                <a:fillToRect l="0" r="100000" t="0" b="100000"/>
              </a:path>
              <a:tileRect r="0" l="-100000" b="0" t="-10000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6439809">
            <a:off x="9727634" y="2180061"/>
            <a:ext cx="1296486" cy="129648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B6CE6">
                    <a:alpha val="15000"/>
                  </a:srgbClr>
                </a:gs>
                <a:gs pos="100000">
                  <a:srgbClr val="543985">
                    <a:alpha val="0"/>
                  </a:srgbClr>
                </a:gs>
              </a:gsLst>
              <a:path path="circle">
                <a:fillToRect l="0" r="100000" t="0" b="100000"/>
              </a:path>
              <a:tileRect r="0" l="-100000" b="0" t="-100000"/>
            </a:gra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true" flipV="false" rot="0">
            <a:off x="-1114356" y="8812551"/>
            <a:ext cx="4978965" cy="4114800"/>
          </a:xfrm>
          <a:custGeom>
            <a:avLst/>
            <a:gdLst/>
            <a:ahLst/>
            <a:cxnLst/>
            <a:rect r="r" b="b" t="t" l="l"/>
            <a:pathLst>
              <a:path h="4114800" w="4978965">
                <a:moveTo>
                  <a:pt x="4978965" y="0"/>
                </a:moveTo>
                <a:lnTo>
                  <a:pt x="0" y="0"/>
                </a:lnTo>
                <a:lnTo>
                  <a:pt x="0" y="4114800"/>
                </a:lnTo>
                <a:lnTo>
                  <a:pt x="4978965" y="4114800"/>
                </a:lnTo>
                <a:lnTo>
                  <a:pt x="4978965" y="0"/>
                </a:lnTo>
                <a:close/>
              </a:path>
            </a:pathLst>
          </a:custGeom>
          <a:blipFill>
            <a:blip r:embed="rId7">
              <a:alphaModFix amt="41000"/>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1487164" y="1025158"/>
            <a:ext cx="2235778" cy="349250"/>
          </a:xfrm>
          <a:prstGeom prst="rect">
            <a:avLst/>
          </a:prstGeom>
        </p:spPr>
        <p:txBody>
          <a:bodyPr anchor="t" rtlCol="false" tIns="0" lIns="0" bIns="0" rIns="0">
            <a:spAutoFit/>
          </a:bodyPr>
          <a:lstStyle/>
          <a:p>
            <a:pPr algn="l">
              <a:lnSpc>
                <a:spcPts val="2800"/>
              </a:lnSpc>
            </a:pPr>
            <a:r>
              <a:rPr lang="en-US" sz="2000" b="true">
                <a:solidFill>
                  <a:srgbClr val="EBE4ED"/>
                </a:solidFill>
                <a:latin typeface="TT Interphases Bold"/>
                <a:ea typeface="TT Interphases Bold"/>
                <a:cs typeface="TT Interphases Bold"/>
                <a:sym typeface="TT Interphases Bold"/>
              </a:rPr>
              <a:t>Kelompok 16</a:t>
            </a:r>
          </a:p>
        </p:txBody>
      </p:sp>
      <p:sp>
        <p:nvSpPr>
          <p:cNvPr name="TextBox 14" id="14"/>
          <p:cNvSpPr txBox="true"/>
          <p:nvPr/>
        </p:nvSpPr>
        <p:spPr>
          <a:xfrm rot="0">
            <a:off x="1375127" y="1768957"/>
            <a:ext cx="6185876" cy="903358"/>
          </a:xfrm>
          <a:prstGeom prst="rect">
            <a:avLst/>
          </a:prstGeom>
        </p:spPr>
        <p:txBody>
          <a:bodyPr anchor="t" rtlCol="false" tIns="0" lIns="0" bIns="0" rIns="0">
            <a:spAutoFit/>
          </a:bodyPr>
          <a:lstStyle/>
          <a:p>
            <a:pPr algn="l">
              <a:lnSpc>
                <a:spcPts val="7044"/>
              </a:lnSpc>
            </a:pPr>
            <a:r>
              <a:rPr lang="en-US" sz="5821" b="true">
                <a:solidFill>
                  <a:srgbClr val="FFFFFF"/>
                </a:solidFill>
                <a:latin typeface="Inter Bold"/>
                <a:ea typeface="Inter Bold"/>
                <a:cs typeface="Inter Bold"/>
                <a:sym typeface="Inter Bold"/>
              </a:rPr>
              <a:t>Flowchart</a:t>
            </a:r>
          </a:p>
        </p:txBody>
      </p:sp>
      <p:sp>
        <p:nvSpPr>
          <p:cNvPr name="TextBox 15" id="15"/>
          <p:cNvSpPr txBox="true"/>
          <p:nvPr/>
        </p:nvSpPr>
        <p:spPr>
          <a:xfrm rot="0">
            <a:off x="1375127" y="2790204"/>
            <a:ext cx="6971912" cy="5626100"/>
          </a:xfrm>
          <a:prstGeom prst="rect">
            <a:avLst/>
          </a:prstGeom>
        </p:spPr>
        <p:txBody>
          <a:bodyPr anchor="t" rtlCol="false" tIns="0" lIns="0" bIns="0" rIns="0">
            <a:spAutoFit/>
          </a:bodyPr>
          <a:lstStyle/>
          <a:p>
            <a:pPr algn="l">
              <a:lnSpc>
                <a:spcPts val="2800"/>
              </a:lnSpc>
            </a:pPr>
            <a:r>
              <a:rPr lang="en-US" sz="2000">
                <a:solidFill>
                  <a:srgbClr val="FFFFFF"/>
                </a:solidFill>
                <a:latin typeface="Montserrat"/>
                <a:ea typeface="Montserrat"/>
                <a:cs typeface="Montserrat"/>
                <a:sym typeface="Montserrat"/>
              </a:rPr>
              <a:t>Flowchart tersebut menggambarkan alur sistem reservasi ruangan di Website Pinjam Ruang FT V2. Proses dimulai dengan pengguna memasukkan akun. Jika belum memiliki akun, pengguna harus mendaftar terlebih dahulu (register), sedangkan yang sudah memiliki akun bisa langsung masuk (login). Setelah masuk, sistem membedakan pengguna biasa dan admin. Pengguna biasa memilih gedung dan ruangan yang ingin direservasi, lalu mengirimkan permintaan reservasi dan menunggu konfirmasi. Sementara itu, admin dapat melihat antrean reservasi dan menentukan apakah permintaan diterima atau ditolak. Jika diterima, reservasi berhasil dan ruangan dapat digunakan; jika ditolak, sistem akan memberi tahu bahwa reservasi tidak berhasil. Proses berakhir setelah hasil reservasi ditentukan.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346427" cy="389642"/>
          </a:xfrm>
          <a:custGeom>
            <a:avLst/>
            <a:gdLst/>
            <a:ahLst/>
            <a:cxnLst/>
            <a:rect r="r" b="b" t="t" l="l"/>
            <a:pathLst>
              <a:path h="389642" w="346427">
                <a:moveTo>
                  <a:pt x="0" y="0"/>
                </a:moveTo>
                <a:lnTo>
                  <a:pt x="346427" y="0"/>
                </a:lnTo>
                <a:lnTo>
                  <a:pt x="346427" y="389642"/>
                </a:lnTo>
                <a:lnTo>
                  <a:pt x="0" y="389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273592">
            <a:off x="7216897" y="1369201"/>
            <a:ext cx="2387776" cy="238777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B6CE6">
                    <a:alpha val="14000"/>
                  </a:srgbClr>
                </a:gs>
                <a:gs pos="100000">
                  <a:srgbClr val="543985">
                    <a:alpha val="0"/>
                  </a:srgbClr>
                </a:gs>
              </a:gsLst>
              <a:path path="circle">
                <a:fillToRect l="0" r="100000" t="0" b="100000"/>
              </a:path>
              <a:tileRect r="0" l="-100000" b="0" t="-10000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155335" y="1326118"/>
            <a:ext cx="10642093" cy="1064209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a:ln w="190500" cap="sq">
              <a:gradFill>
                <a:gsLst>
                  <a:gs pos="0">
                    <a:srgbClr val="CB6CE6">
                      <a:alpha val="100000"/>
                    </a:srgbClr>
                  </a:gs>
                  <a:gs pos="100000">
                    <a:srgbClr val="011030">
                      <a:alpha val="100000"/>
                    </a:srgbClr>
                  </a:gs>
                </a:gsLst>
                <a:path path="circle">
                  <a:fillToRect l="0" r="100000" t="0" b="100000"/>
                </a:path>
                <a:tileRect r="0" l="-100000" b="0" t="-100000"/>
              </a:gradFill>
              <a:prstDash val="solid"/>
              <a:miter/>
            </a:ln>
          </p:spPr>
        </p:sp>
      </p:grpSp>
      <p:grpSp>
        <p:nvGrpSpPr>
          <p:cNvPr name="Group 8" id="8"/>
          <p:cNvGrpSpPr/>
          <p:nvPr/>
        </p:nvGrpSpPr>
        <p:grpSpPr>
          <a:xfrm rot="-6439809">
            <a:off x="8649709" y="966096"/>
            <a:ext cx="1296486" cy="129648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B6CE6">
                    <a:alpha val="15000"/>
                  </a:srgbClr>
                </a:gs>
                <a:gs pos="100000">
                  <a:srgbClr val="543985">
                    <a:alpha val="0"/>
                  </a:srgbClr>
                </a:gs>
              </a:gsLst>
              <a:path path="circle">
                <a:fillToRect l="0" r="100000" t="0" b="100000"/>
              </a:path>
              <a:tileRect r="0" l="-100000" b="0" t="-100000"/>
            </a:gra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4363175" y="8866922"/>
            <a:ext cx="4978965" cy="4114800"/>
          </a:xfrm>
          <a:custGeom>
            <a:avLst/>
            <a:gdLst/>
            <a:ahLst/>
            <a:cxnLst/>
            <a:rect r="r" b="b" t="t" l="l"/>
            <a:pathLst>
              <a:path h="4114800" w="4978965">
                <a:moveTo>
                  <a:pt x="0" y="0"/>
                </a:moveTo>
                <a:lnTo>
                  <a:pt x="4978965" y="0"/>
                </a:lnTo>
                <a:lnTo>
                  <a:pt x="4978965" y="4114800"/>
                </a:lnTo>
                <a:lnTo>
                  <a:pt x="0" y="4114800"/>
                </a:lnTo>
                <a:lnTo>
                  <a:pt x="0" y="0"/>
                </a:lnTo>
                <a:close/>
              </a:path>
            </a:pathLst>
          </a:custGeom>
          <a:blipFill>
            <a:blip r:embed="rId5">
              <a:alphaModFix amt="41000"/>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487164" y="1025158"/>
            <a:ext cx="2235778" cy="349250"/>
          </a:xfrm>
          <a:prstGeom prst="rect">
            <a:avLst/>
          </a:prstGeom>
        </p:spPr>
        <p:txBody>
          <a:bodyPr anchor="t" rtlCol="false" tIns="0" lIns="0" bIns="0" rIns="0">
            <a:spAutoFit/>
          </a:bodyPr>
          <a:lstStyle/>
          <a:p>
            <a:pPr algn="l">
              <a:lnSpc>
                <a:spcPts val="2800"/>
              </a:lnSpc>
            </a:pPr>
            <a:r>
              <a:rPr lang="en-US" sz="2000" b="true">
                <a:solidFill>
                  <a:srgbClr val="EBE4ED"/>
                </a:solidFill>
                <a:latin typeface="TT Interphases Bold"/>
                <a:ea typeface="TT Interphases Bold"/>
                <a:cs typeface="TT Interphases Bold"/>
                <a:sym typeface="TT Interphases Bold"/>
              </a:rPr>
              <a:t>Kelompok 16</a:t>
            </a:r>
          </a:p>
        </p:txBody>
      </p:sp>
      <p:sp>
        <p:nvSpPr>
          <p:cNvPr name="TextBox 13" id="13"/>
          <p:cNvSpPr txBox="true"/>
          <p:nvPr/>
        </p:nvSpPr>
        <p:spPr>
          <a:xfrm rot="0">
            <a:off x="10109864" y="1489275"/>
            <a:ext cx="7201659" cy="1795059"/>
          </a:xfrm>
          <a:prstGeom prst="rect">
            <a:avLst/>
          </a:prstGeom>
        </p:spPr>
        <p:txBody>
          <a:bodyPr anchor="t" rtlCol="false" tIns="0" lIns="0" bIns="0" rIns="0">
            <a:spAutoFit/>
          </a:bodyPr>
          <a:lstStyle/>
          <a:p>
            <a:pPr algn="l">
              <a:lnSpc>
                <a:spcPts val="7044"/>
              </a:lnSpc>
            </a:pPr>
            <a:r>
              <a:rPr lang="en-US" sz="5821" b="true">
                <a:solidFill>
                  <a:srgbClr val="FFFFFF"/>
                </a:solidFill>
                <a:latin typeface="Inter Bold"/>
                <a:ea typeface="Inter Bold"/>
                <a:cs typeface="Inter Bold"/>
                <a:sym typeface="Inter Bold"/>
              </a:rPr>
              <a:t>Entity-Relationship Diagram (ERD)</a:t>
            </a:r>
          </a:p>
        </p:txBody>
      </p:sp>
      <p:sp>
        <p:nvSpPr>
          <p:cNvPr name="TextBox 14" id="14"/>
          <p:cNvSpPr txBox="true"/>
          <p:nvPr/>
        </p:nvSpPr>
        <p:spPr>
          <a:xfrm rot="0">
            <a:off x="10071264" y="3574752"/>
            <a:ext cx="7188036" cy="4568825"/>
          </a:xfrm>
          <a:prstGeom prst="rect">
            <a:avLst/>
          </a:prstGeom>
        </p:spPr>
        <p:txBody>
          <a:bodyPr anchor="t" rtlCol="false" tIns="0" lIns="0" bIns="0" rIns="0">
            <a:spAutoFit/>
          </a:bodyPr>
          <a:lstStyle/>
          <a:p>
            <a:pPr algn="l">
              <a:lnSpc>
                <a:spcPts val="2800"/>
              </a:lnSpc>
            </a:pPr>
            <a:r>
              <a:rPr lang="en-US" sz="2000">
                <a:solidFill>
                  <a:srgbClr val="FFFFFF"/>
                </a:solidFill>
                <a:latin typeface="Montserrat"/>
                <a:ea typeface="Montserrat"/>
                <a:cs typeface="Montserrat"/>
                <a:sym typeface="Montserrat"/>
              </a:rPr>
              <a:t>Entity Relationship Diagram (ERD) di samping menggambarkan hubungan dari database Pinjam Ruang FT V2  yang melibatkan lima entitas utama: gedung, ruangan, users, peminjaman, dan approval_log. Setiap gedung dapat memiliki banyak ruangan, dan setiap ruangan bisa dipinjam oleh pengguna (users) untuk keperluan tertentu dalam rentang waktu tertentu. Proses peminjaman tersebut dicatat dalam tabel peminjaman, yang juga mencatat status dan catatan peminjaman. Selain itu, proses persetujuan atau penolakan peminjaman oleh admin dicatat dalam tabel approval_log, termasuk perubahan status, catatan, dan waktu perubahan.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4768685" y="-9085843"/>
            <a:ext cx="16287741" cy="16287741"/>
          </a:xfrm>
          <a:custGeom>
            <a:avLst/>
            <a:gdLst/>
            <a:ahLst/>
            <a:cxnLst/>
            <a:rect r="r" b="b" t="t" l="l"/>
            <a:pathLst>
              <a:path h="16287741" w="16287741">
                <a:moveTo>
                  <a:pt x="0" y="0"/>
                </a:moveTo>
                <a:lnTo>
                  <a:pt x="16287741" y="0"/>
                </a:lnTo>
                <a:lnTo>
                  <a:pt x="16287741" y="16287741"/>
                </a:lnTo>
                <a:lnTo>
                  <a:pt x="0" y="16287741"/>
                </a:lnTo>
                <a:lnTo>
                  <a:pt x="0" y="0"/>
                </a:lnTo>
                <a:close/>
              </a:path>
            </a:pathLst>
          </a:custGeom>
          <a:blipFill>
            <a:blip r:embed="rId2">
              <a:alphaModFix amt="4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346427" cy="389642"/>
          </a:xfrm>
          <a:custGeom>
            <a:avLst/>
            <a:gdLst/>
            <a:ahLst/>
            <a:cxnLst/>
            <a:rect r="r" b="b" t="t" l="l"/>
            <a:pathLst>
              <a:path h="389642" w="346427">
                <a:moveTo>
                  <a:pt x="0" y="0"/>
                </a:moveTo>
                <a:lnTo>
                  <a:pt x="346427" y="0"/>
                </a:lnTo>
                <a:lnTo>
                  <a:pt x="346427" y="389642"/>
                </a:lnTo>
                <a:lnTo>
                  <a:pt x="0" y="3896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5273592">
            <a:off x="8099660" y="1941033"/>
            <a:ext cx="2387776" cy="238777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B6CE6">
                    <a:alpha val="14000"/>
                  </a:srgbClr>
                </a:gs>
                <a:gs pos="100000">
                  <a:srgbClr val="543985">
                    <a:alpha val="0"/>
                  </a:srgbClr>
                </a:gs>
              </a:gsLst>
              <a:path path="circle">
                <a:fillToRect l="0" r="100000" t="0" b="100000"/>
              </a:path>
              <a:tileRect r="0" l="-100000" b="0" t="-100000"/>
            </a:gra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6439809">
            <a:off x="9532471" y="1537928"/>
            <a:ext cx="1296486" cy="129648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B6CE6">
                    <a:alpha val="15000"/>
                  </a:srgbClr>
                </a:gs>
                <a:gs pos="100000">
                  <a:srgbClr val="543985">
                    <a:alpha val="0"/>
                  </a:srgbClr>
                </a:gs>
              </a:gsLst>
              <a:path path="circle">
                <a:fillToRect l="0" r="100000" t="0" b="100000"/>
              </a:path>
              <a:tileRect r="0" l="-100000" b="0" t="-100000"/>
            </a:gra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8499565" y="-1651215"/>
            <a:ext cx="11871540" cy="1187154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0" r="0" b="0"/>
              </a:stretch>
            </a:blipFill>
            <a:ln w="190500" cap="sq">
              <a:gradFill>
                <a:gsLst>
                  <a:gs pos="0">
                    <a:srgbClr val="CB6CE6">
                      <a:alpha val="100000"/>
                    </a:srgbClr>
                  </a:gs>
                  <a:gs pos="100000">
                    <a:srgbClr val="011030">
                      <a:alpha val="100000"/>
                    </a:srgbClr>
                  </a:gs>
                </a:gsLst>
                <a:path path="circle">
                  <a:fillToRect l="0" r="100000" t="0" b="100000"/>
                </a:path>
                <a:tileRect r="0" l="-100000" b="0" t="-100000"/>
              </a:gradFill>
              <a:prstDash val="solid"/>
              <a:miter/>
            </a:ln>
          </p:spPr>
        </p:sp>
      </p:grpSp>
      <p:sp>
        <p:nvSpPr>
          <p:cNvPr name="Freeform 12" id="12"/>
          <p:cNvSpPr/>
          <p:nvPr/>
        </p:nvSpPr>
        <p:spPr>
          <a:xfrm flipH="true" flipV="false" rot="0">
            <a:off x="-1114356" y="8812551"/>
            <a:ext cx="4978965" cy="4114800"/>
          </a:xfrm>
          <a:custGeom>
            <a:avLst/>
            <a:gdLst/>
            <a:ahLst/>
            <a:cxnLst/>
            <a:rect r="r" b="b" t="t" l="l"/>
            <a:pathLst>
              <a:path h="4114800" w="4978965">
                <a:moveTo>
                  <a:pt x="4978965" y="0"/>
                </a:moveTo>
                <a:lnTo>
                  <a:pt x="0" y="0"/>
                </a:lnTo>
                <a:lnTo>
                  <a:pt x="0" y="4114800"/>
                </a:lnTo>
                <a:lnTo>
                  <a:pt x="4978965" y="4114800"/>
                </a:lnTo>
                <a:lnTo>
                  <a:pt x="4978965" y="0"/>
                </a:lnTo>
                <a:close/>
              </a:path>
            </a:pathLst>
          </a:custGeom>
          <a:blipFill>
            <a:blip r:embed="rId7">
              <a:alphaModFix amt="41000"/>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1028700" y="1791477"/>
            <a:ext cx="7768873" cy="1795059"/>
          </a:xfrm>
          <a:prstGeom prst="rect">
            <a:avLst/>
          </a:prstGeom>
        </p:spPr>
        <p:txBody>
          <a:bodyPr anchor="t" rtlCol="false" tIns="0" lIns="0" bIns="0" rIns="0">
            <a:spAutoFit/>
          </a:bodyPr>
          <a:lstStyle/>
          <a:p>
            <a:pPr algn="l">
              <a:lnSpc>
                <a:spcPts val="7044"/>
              </a:lnSpc>
            </a:pPr>
            <a:r>
              <a:rPr lang="en-US" sz="5821" b="true">
                <a:solidFill>
                  <a:srgbClr val="FFFFFF"/>
                </a:solidFill>
                <a:latin typeface="Inter Bold"/>
                <a:ea typeface="Inter Bold"/>
                <a:cs typeface="Inter Bold"/>
                <a:sym typeface="Inter Bold"/>
              </a:rPr>
              <a:t>Unified Modeling Language (UML)</a:t>
            </a:r>
          </a:p>
        </p:txBody>
      </p:sp>
      <p:sp>
        <p:nvSpPr>
          <p:cNvPr name="TextBox 14" id="14"/>
          <p:cNvSpPr txBox="true"/>
          <p:nvPr/>
        </p:nvSpPr>
        <p:spPr>
          <a:xfrm rot="0">
            <a:off x="1487164" y="1025158"/>
            <a:ext cx="2235778" cy="349250"/>
          </a:xfrm>
          <a:prstGeom prst="rect">
            <a:avLst/>
          </a:prstGeom>
        </p:spPr>
        <p:txBody>
          <a:bodyPr anchor="t" rtlCol="false" tIns="0" lIns="0" bIns="0" rIns="0">
            <a:spAutoFit/>
          </a:bodyPr>
          <a:lstStyle/>
          <a:p>
            <a:pPr algn="l">
              <a:lnSpc>
                <a:spcPts val="2800"/>
              </a:lnSpc>
            </a:pPr>
            <a:r>
              <a:rPr lang="en-US" sz="2000" b="true">
                <a:solidFill>
                  <a:srgbClr val="EBE4ED"/>
                </a:solidFill>
                <a:latin typeface="TT Interphases Bold"/>
                <a:ea typeface="TT Interphases Bold"/>
                <a:cs typeface="TT Interphases Bold"/>
                <a:sym typeface="TT Interphases Bold"/>
              </a:rPr>
              <a:t>Kelompok 16</a:t>
            </a:r>
          </a:p>
        </p:txBody>
      </p:sp>
      <p:sp>
        <p:nvSpPr>
          <p:cNvPr name="TextBox 15" id="15"/>
          <p:cNvSpPr txBox="true"/>
          <p:nvPr/>
        </p:nvSpPr>
        <p:spPr>
          <a:xfrm rot="0">
            <a:off x="1028700" y="3719886"/>
            <a:ext cx="7356565" cy="4921250"/>
          </a:xfrm>
          <a:prstGeom prst="rect">
            <a:avLst/>
          </a:prstGeom>
        </p:spPr>
        <p:txBody>
          <a:bodyPr anchor="t" rtlCol="false" tIns="0" lIns="0" bIns="0" rIns="0">
            <a:spAutoFit/>
          </a:bodyPr>
          <a:lstStyle/>
          <a:p>
            <a:pPr algn="l">
              <a:lnSpc>
                <a:spcPts val="2800"/>
              </a:lnSpc>
            </a:pPr>
            <a:r>
              <a:rPr lang="en-US" sz="2000">
                <a:solidFill>
                  <a:srgbClr val="FFFFFF"/>
                </a:solidFill>
                <a:latin typeface="Montserrat"/>
                <a:ea typeface="Montserrat"/>
                <a:cs typeface="Montserrat"/>
                <a:sym typeface="Montserrat"/>
              </a:rPr>
              <a:t>UML di samping menggambarkan struktur dan relasi antar entitas dalam website Pinjam Ruang FT V2 menggunakan notasi class diagram. Terdapat lima kelas utama: gedung, ruangan, users, peminjaman, dan approval_log, masing-masing merepresentasikan tabel dalam basis data. Setiap entitas memiliki atribut dengan tipe data dan batasan (constraints), seperti NOT NULL, UNIQUE, dan DEFAULT. Relasi antar entitas ditunjukkan dengan garis yang menjelaskan kardinalitas (misalnya 1:N atau 1:1), seperti satu gedung memiliki banyak ruangan, satu user dapat membuat banyak peminjaman, dan satu peminjaman dapat memiliki satu log persetujuan. Diagram ini mempermudah pemahaman struktur database serta alur data antar entitas dalam sistem.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346427" cy="389642"/>
          </a:xfrm>
          <a:custGeom>
            <a:avLst/>
            <a:gdLst/>
            <a:ahLst/>
            <a:cxnLst/>
            <a:rect r="r" b="b" t="t" l="l"/>
            <a:pathLst>
              <a:path h="389642" w="346427">
                <a:moveTo>
                  <a:pt x="0" y="0"/>
                </a:moveTo>
                <a:lnTo>
                  <a:pt x="346427" y="0"/>
                </a:lnTo>
                <a:lnTo>
                  <a:pt x="346427" y="389642"/>
                </a:lnTo>
                <a:lnTo>
                  <a:pt x="0" y="389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87164" y="1025158"/>
            <a:ext cx="2235778" cy="349250"/>
          </a:xfrm>
          <a:prstGeom prst="rect">
            <a:avLst/>
          </a:prstGeom>
        </p:spPr>
        <p:txBody>
          <a:bodyPr anchor="t" rtlCol="false" tIns="0" lIns="0" bIns="0" rIns="0">
            <a:spAutoFit/>
          </a:bodyPr>
          <a:lstStyle/>
          <a:p>
            <a:pPr algn="l">
              <a:lnSpc>
                <a:spcPts val="2800"/>
              </a:lnSpc>
            </a:pPr>
            <a:r>
              <a:rPr lang="en-US" sz="2000" b="true">
                <a:solidFill>
                  <a:srgbClr val="EBE4ED"/>
                </a:solidFill>
                <a:latin typeface="TT Interphases Bold"/>
                <a:ea typeface="TT Interphases Bold"/>
                <a:cs typeface="TT Interphases Bold"/>
                <a:sym typeface="TT Interphases Bold"/>
              </a:rPr>
              <a:t>Kelompok 16</a:t>
            </a:r>
          </a:p>
        </p:txBody>
      </p:sp>
      <p:sp>
        <p:nvSpPr>
          <p:cNvPr name="TextBox 4" id="4"/>
          <p:cNvSpPr txBox="true"/>
          <p:nvPr/>
        </p:nvSpPr>
        <p:spPr>
          <a:xfrm rot="0">
            <a:off x="1028700" y="1788319"/>
            <a:ext cx="7201659" cy="903358"/>
          </a:xfrm>
          <a:prstGeom prst="rect">
            <a:avLst/>
          </a:prstGeom>
        </p:spPr>
        <p:txBody>
          <a:bodyPr anchor="t" rtlCol="false" tIns="0" lIns="0" bIns="0" rIns="0">
            <a:spAutoFit/>
          </a:bodyPr>
          <a:lstStyle/>
          <a:p>
            <a:pPr algn="l">
              <a:lnSpc>
                <a:spcPts val="7044"/>
              </a:lnSpc>
            </a:pPr>
            <a:r>
              <a:rPr lang="en-US" sz="5821" b="true">
                <a:solidFill>
                  <a:srgbClr val="FFFFFF"/>
                </a:solidFill>
                <a:latin typeface="Inter Bold"/>
                <a:ea typeface="Inter Bold"/>
                <a:cs typeface="Inter Bold"/>
                <a:sym typeface="Inter Bold"/>
              </a:rPr>
              <a:t>Kesimpulan</a:t>
            </a:r>
          </a:p>
        </p:txBody>
      </p:sp>
      <p:sp>
        <p:nvSpPr>
          <p:cNvPr name="TextBox 5" id="5"/>
          <p:cNvSpPr txBox="true"/>
          <p:nvPr/>
        </p:nvSpPr>
        <p:spPr>
          <a:xfrm rot="0">
            <a:off x="9650999" y="1788319"/>
            <a:ext cx="7201659" cy="1795059"/>
          </a:xfrm>
          <a:prstGeom prst="rect">
            <a:avLst/>
          </a:prstGeom>
        </p:spPr>
        <p:txBody>
          <a:bodyPr anchor="t" rtlCol="false" tIns="0" lIns="0" bIns="0" rIns="0">
            <a:spAutoFit/>
          </a:bodyPr>
          <a:lstStyle/>
          <a:p>
            <a:pPr algn="l">
              <a:lnSpc>
                <a:spcPts val="7044"/>
              </a:lnSpc>
            </a:pPr>
            <a:r>
              <a:rPr lang="en-US" sz="5821" b="true">
                <a:solidFill>
                  <a:srgbClr val="FFFFFF"/>
                </a:solidFill>
                <a:latin typeface="Inter Bold"/>
                <a:ea typeface="Inter Bold"/>
                <a:cs typeface="Inter Bold"/>
                <a:sym typeface="Inter Bold"/>
              </a:rPr>
              <a:t>Future Development</a:t>
            </a:r>
          </a:p>
        </p:txBody>
      </p:sp>
      <p:sp>
        <p:nvSpPr>
          <p:cNvPr name="TextBox 6" id="6"/>
          <p:cNvSpPr txBox="true"/>
          <p:nvPr/>
        </p:nvSpPr>
        <p:spPr>
          <a:xfrm rot="0">
            <a:off x="1028700" y="3847150"/>
            <a:ext cx="8115300" cy="3863975"/>
          </a:xfrm>
          <a:prstGeom prst="rect">
            <a:avLst/>
          </a:prstGeom>
        </p:spPr>
        <p:txBody>
          <a:bodyPr anchor="t" rtlCol="false" tIns="0" lIns="0" bIns="0" rIns="0">
            <a:spAutoFit/>
          </a:bodyPr>
          <a:lstStyle/>
          <a:p>
            <a:pPr algn="l">
              <a:lnSpc>
                <a:spcPts val="2800"/>
              </a:lnSpc>
            </a:pPr>
            <a:r>
              <a:rPr lang="en-US" sz="2000">
                <a:solidFill>
                  <a:srgbClr val="FFFFFF"/>
                </a:solidFill>
                <a:latin typeface="Montserrat"/>
                <a:ea typeface="Montserrat"/>
                <a:cs typeface="Montserrat"/>
                <a:sym typeface="Montserrat"/>
              </a:rPr>
              <a:t>Kesimpulan dari kerja kelompok kita adalah, menurut kita, kita telah berhasil membuat sebuah website yang merupakan peningkatan dari website pinjam ruang FT yang sebelumnya. Terdapat semua fitur-fitur dasar yang ada dalam website lama, tetapi, sekarang dengan integrasi yang lebih baik, serta memiliki tampilan yang lebih selaras dengan website-website masa kini, sehingga lebih enak bagi pembaca website. Secara keseluruhan, seorang mahasiswa yang ingin meminjam ruangan memiliki kemungkinan lebih besar untuk memakai dan menikmati memakai website ini daripada website pinjam ruang yang lama.</a:t>
            </a:r>
          </a:p>
        </p:txBody>
      </p:sp>
      <p:sp>
        <p:nvSpPr>
          <p:cNvPr name="Freeform 7" id="7"/>
          <p:cNvSpPr/>
          <p:nvPr/>
        </p:nvSpPr>
        <p:spPr>
          <a:xfrm flipH="false" flipV="false" rot="0">
            <a:off x="14363175" y="8866922"/>
            <a:ext cx="4978965" cy="4114800"/>
          </a:xfrm>
          <a:custGeom>
            <a:avLst/>
            <a:gdLst/>
            <a:ahLst/>
            <a:cxnLst/>
            <a:rect r="r" b="b" t="t" l="l"/>
            <a:pathLst>
              <a:path h="4114800" w="4978965">
                <a:moveTo>
                  <a:pt x="0" y="0"/>
                </a:moveTo>
                <a:lnTo>
                  <a:pt x="4978965" y="0"/>
                </a:lnTo>
                <a:lnTo>
                  <a:pt x="4978965" y="4114800"/>
                </a:lnTo>
                <a:lnTo>
                  <a:pt x="0" y="4114800"/>
                </a:lnTo>
                <a:lnTo>
                  <a:pt x="0" y="0"/>
                </a:lnTo>
                <a:close/>
              </a:path>
            </a:pathLst>
          </a:custGeom>
          <a:blipFill>
            <a:blip r:embed="rId4">
              <a:alphaModFix amt="41000"/>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9650999" y="3847150"/>
            <a:ext cx="7201659" cy="4921250"/>
          </a:xfrm>
          <a:prstGeom prst="rect">
            <a:avLst/>
          </a:prstGeom>
        </p:spPr>
        <p:txBody>
          <a:bodyPr anchor="t" rtlCol="false" tIns="0" lIns="0" bIns="0" rIns="0">
            <a:spAutoFit/>
          </a:bodyPr>
          <a:lstStyle/>
          <a:p>
            <a:pPr algn="l">
              <a:lnSpc>
                <a:spcPts val="2800"/>
              </a:lnSpc>
            </a:pPr>
            <a:r>
              <a:rPr lang="en-US" sz="2000">
                <a:solidFill>
                  <a:srgbClr val="FFFFFF"/>
                </a:solidFill>
                <a:latin typeface="Montserrat"/>
                <a:ea typeface="Montserrat"/>
                <a:cs typeface="Montserrat"/>
                <a:sym typeface="Montserrat"/>
              </a:rPr>
              <a:t>Kedepannya dalam pengembangan website ini, tidak terlalu banyak yang kemungkinan perlu ditambahkan karena sudah cukup lengkap fitur-fitur yang tersedia dalam website tersebut. Kemungkinan, fitur-fitur tersisa yang baik bila diimplementasikan ke dalam website adalah sebagai berikut: </a:t>
            </a:r>
          </a:p>
          <a:p>
            <a:pPr algn="l" marL="431801" indent="-215900" lvl="1">
              <a:lnSpc>
                <a:spcPts val="2800"/>
              </a:lnSpc>
              <a:buFont typeface="Arial"/>
              <a:buChar char="•"/>
            </a:pPr>
            <a:r>
              <a:rPr lang="en-US" sz="2000">
                <a:solidFill>
                  <a:srgbClr val="FFFFFF"/>
                </a:solidFill>
                <a:latin typeface="Montserrat"/>
                <a:ea typeface="Montserrat"/>
                <a:cs typeface="Montserrat"/>
                <a:sym typeface="Montserrat"/>
              </a:rPr>
              <a:t>Sistem chat langsung ke admin-admin website, agar bisa bernegosiasi soal peminjaman ruangan dan hal-hal lain apabila terjadi halangan, seperti semua ruangan dalam satu gedung telah dipinjam.</a:t>
            </a:r>
          </a:p>
          <a:p>
            <a:pPr algn="l" marL="431801" indent="-215900" lvl="1">
              <a:lnSpc>
                <a:spcPts val="2800"/>
              </a:lnSpc>
              <a:buFont typeface="Arial"/>
              <a:buChar char="•"/>
            </a:pPr>
            <a:r>
              <a:rPr lang="en-US" sz="2000">
                <a:solidFill>
                  <a:srgbClr val="FFFFFF"/>
                </a:solidFill>
                <a:latin typeface="Montserrat"/>
                <a:ea typeface="Montserrat"/>
                <a:cs typeface="Montserrat"/>
                <a:sym typeface="Montserrat"/>
              </a:rPr>
              <a:t>Sistem pembuatan ruangan oleh admin yang disertai dengan input dari gambar secara langsung dengan integrasi dengan image hosting seperti claudinary.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9853646" y="1456909"/>
            <a:ext cx="7713082" cy="4801393"/>
          </a:xfrm>
          <a:custGeom>
            <a:avLst/>
            <a:gdLst/>
            <a:ahLst/>
            <a:cxnLst/>
            <a:rect r="r" b="b" t="t" l="l"/>
            <a:pathLst>
              <a:path h="4801393" w="7713082">
                <a:moveTo>
                  <a:pt x="0" y="0"/>
                </a:moveTo>
                <a:lnTo>
                  <a:pt x="7713082" y="0"/>
                </a:lnTo>
                <a:lnTo>
                  <a:pt x="7713082" y="4801393"/>
                </a:lnTo>
                <a:lnTo>
                  <a:pt x="0" y="4801393"/>
                </a:lnTo>
                <a:lnTo>
                  <a:pt x="0" y="0"/>
                </a:lnTo>
                <a:close/>
              </a:path>
            </a:pathLst>
          </a:custGeom>
          <a:blipFill>
            <a:blip r:embed="rId2"/>
            <a:stretch>
              <a:fillRect l="0" t="0" r="0" b="0"/>
            </a:stretch>
          </a:blipFill>
        </p:spPr>
      </p:sp>
      <p:sp>
        <p:nvSpPr>
          <p:cNvPr name="Freeform 3" id="3"/>
          <p:cNvSpPr/>
          <p:nvPr/>
        </p:nvSpPr>
        <p:spPr>
          <a:xfrm flipH="false" flipV="false" rot="0">
            <a:off x="1383424" y="4650220"/>
            <a:ext cx="8155894" cy="4608080"/>
          </a:xfrm>
          <a:custGeom>
            <a:avLst/>
            <a:gdLst/>
            <a:ahLst/>
            <a:cxnLst/>
            <a:rect r="r" b="b" t="t" l="l"/>
            <a:pathLst>
              <a:path h="4608080" w="8155894">
                <a:moveTo>
                  <a:pt x="0" y="0"/>
                </a:moveTo>
                <a:lnTo>
                  <a:pt x="8155894" y="0"/>
                </a:lnTo>
                <a:lnTo>
                  <a:pt x="8155894" y="4608080"/>
                </a:lnTo>
                <a:lnTo>
                  <a:pt x="0" y="4608080"/>
                </a:lnTo>
                <a:lnTo>
                  <a:pt x="0" y="0"/>
                </a:lnTo>
                <a:close/>
              </a:path>
            </a:pathLst>
          </a:custGeom>
          <a:blipFill>
            <a:blip r:embed="rId3"/>
            <a:stretch>
              <a:fillRect l="0" t="0" r="0" b="0"/>
            </a:stretch>
          </a:blipFill>
        </p:spPr>
      </p:sp>
      <p:sp>
        <p:nvSpPr>
          <p:cNvPr name="TextBox 4" id="4"/>
          <p:cNvSpPr txBox="true"/>
          <p:nvPr/>
        </p:nvSpPr>
        <p:spPr>
          <a:xfrm rot="0">
            <a:off x="1028700" y="1788319"/>
            <a:ext cx="7201659" cy="903358"/>
          </a:xfrm>
          <a:prstGeom prst="rect">
            <a:avLst/>
          </a:prstGeom>
        </p:spPr>
        <p:txBody>
          <a:bodyPr anchor="t" rtlCol="false" tIns="0" lIns="0" bIns="0" rIns="0">
            <a:spAutoFit/>
          </a:bodyPr>
          <a:lstStyle/>
          <a:p>
            <a:pPr algn="l">
              <a:lnSpc>
                <a:spcPts val="7044"/>
              </a:lnSpc>
            </a:pPr>
            <a:r>
              <a:rPr lang="en-US" sz="5821" b="true">
                <a:solidFill>
                  <a:srgbClr val="FFFFFF"/>
                </a:solidFill>
                <a:latin typeface="Inter Bold"/>
                <a:ea typeface="Inter Bold"/>
                <a:cs typeface="Inter Bold"/>
                <a:sym typeface="Inter Bold"/>
              </a:rPr>
              <a:t>Dokumentasi</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4768685" y="-9085843"/>
            <a:ext cx="16287741" cy="16287741"/>
          </a:xfrm>
          <a:custGeom>
            <a:avLst/>
            <a:gdLst/>
            <a:ahLst/>
            <a:cxnLst/>
            <a:rect r="r" b="b" t="t" l="l"/>
            <a:pathLst>
              <a:path h="16287741" w="16287741">
                <a:moveTo>
                  <a:pt x="0" y="0"/>
                </a:moveTo>
                <a:lnTo>
                  <a:pt x="16287741" y="0"/>
                </a:lnTo>
                <a:lnTo>
                  <a:pt x="16287741" y="16287741"/>
                </a:lnTo>
                <a:lnTo>
                  <a:pt x="0" y="16287741"/>
                </a:lnTo>
                <a:lnTo>
                  <a:pt x="0" y="0"/>
                </a:lnTo>
                <a:close/>
              </a:path>
            </a:pathLst>
          </a:custGeom>
          <a:blipFill>
            <a:blip r:embed="rId2">
              <a:alphaModFix amt="4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870449">
            <a:off x="-9267477" y="5630815"/>
            <a:ext cx="24264087" cy="12199444"/>
          </a:xfrm>
          <a:custGeom>
            <a:avLst/>
            <a:gdLst/>
            <a:ahLst/>
            <a:cxnLst/>
            <a:rect r="r" b="b" t="t" l="l"/>
            <a:pathLst>
              <a:path h="12199444" w="24264087">
                <a:moveTo>
                  <a:pt x="0" y="0"/>
                </a:moveTo>
                <a:lnTo>
                  <a:pt x="24264087" y="0"/>
                </a:lnTo>
                <a:lnTo>
                  <a:pt x="24264087" y="12199443"/>
                </a:lnTo>
                <a:lnTo>
                  <a:pt x="0" y="12199443"/>
                </a:lnTo>
                <a:lnTo>
                  <a:pt x="0" y="0"/>
                </a:lnTo>
                <a:close/>
              </a:path>
            </a:pathLst>
          </a:custGeom>
          <a:blipFill>
            <a:blip r:embed="rId4">
              <a:alphaModFix amt="27000"/>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962261" y="1028700"/>
            <a:ext cx="4066686" cy="621309"/>
            <a:chOff x="0" y="0"/>
            <a:chExt cx="906381" cy="138477"/>
          </a:xfrm>
        </p:grpSpPr>
        <p:sp>
          <p:nvSpPr>
            <p:cNvPr name="Freeform 5" id="5"/>
            <p:cNvSpPr/>
            <p:nvPr/>
          </p:nvSpPr>
          <p:spPr>
            <a:xfrm flipH="false" flipV="false" rot="0">
              <a:off x="0" y="0"/>
              <a:ext cx="906381" cy="138477"/>
            </a:xfrm>
            <a:custGeom>
              <a:avLst/>
              <a:gdLst/>
              <a:ahLst/>
              <a:cxnLst/>
              <a:rect r="r" b="b" t="t" l="l"/>
              <a:pathLst>
                <a:path h="138477" w="906381">
                  <a:moveTo>
                    <a:pt x="69239" y="0"/>
                  </a:moveTo>
                  <a:lnTo>
                    <a:pt x="837143" y="0"/>
                  </a:lnTo>
                  <a:cubicBezTo>
                    <a:pt x="855506" y="0"/>
                    <a:pt x="873117" y="7295"/>
                    <a:pt x="886102" y="20279"/>
                  </a:cubicBezTo>
                  <a:cubicBezTo>
                    <a:pt x="899087" y="33264"/>
                    <a:pt x="906381" y="50875"/>
                    <a:pt x="906381" y="69239"/>
                  </a:cubicBezTo>
                  <a:lnTo>
                    <a:pt x="906381" y="69239"/>
                  </a:lnTo>
                  <a:cubicBezTo>
                    <a:pt x="906381" y="87602"/>
                    <a:pt x="899087" y="105213"/>
                    <a:pt x="886102" y="118198"/>
                  </a:cubicBezTo>
                  <a:cubicBezTo>
                    <a:pt x="873117" y="131182"/>
                    <a:pt x="855506" y="138477"/>
                    <a:pt x="837143" y="138477"/>
                  </a:cubicBezTo>
                  <a:lnTo>
                    <a:pt x="69239" y="138477"/>
                  </a:lnTo>
                  <a:cubicBezTo>
                    <a:pt x="50875" y="138477"/>
                    <a:pt x="33264" y="131182"/>
                    <a:pt x="20279" y="118198"/>
                  </a:cubicBezTo>
                  <a:cubicBezTo>
                    <a:pt x="7295" y="105213"/>
                    <a:pt x="0" y="87602"/>
                    <a:pt x="0" y="69239"/>
                  </a:cubicBezTo>
                  <a:lnTo>
                    <a:pt x="0" y="69239"/>
                  </a:lnTo>
                  <a:cubicBezTo>
                    <a:pt x="0" y="50875"/>
                    <a:pt x="7295" y="33264"/>
                    <a:pt x="20279" y="20279"/>
                  </a:cubicBezTo>
                  <a:cubicBezTo>
                    <a:pt x="33264" y="7295"/>
                    <a:pt x="50875" y="0"/>
                    <a:pt x="69239" y="0"/>
                  </a:cubicBezTo>
                  <a:close/>
                </a:path>
              </a:pathLst>
            </a:custGeom>
            <a:solidFill>
              <a:srgbClr val="CFCFCF"/>
            </a:solidFill>
            <a:ln cap="rnd">
              <a:noFill/>
              <a:prstDash val="solid"/>
              <a:round/>
            </a:ln>
          </p:spPr>
        </p:sp>
        <p:sp>
          <p:nvSpPr>
            <p:cNvPr name="TextBox 6" id="6"/>
            <p:cNvSpPr txBox="true"/>
            <p:nvPr/>
          </p:nvSpPr>
          <p:spPr>
            <a:xfrm>
              <a:off x="0" y="-38100"/>
              <a:ext cx="906381" cy="176577"/>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5068102">
            <a:off x="15572975" y="1163363"/>
            <a:ext cx="4590712" cy="4590712"/>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B6CE6">
                    <a:alpha val="17000"/>
                  </a:srgbClr>
                </a:gs>
                <a:gs pos="100000">
                  <a:srgbClr val="543985">
                    <a:alpha val="0"/>
                  </a:srgbClr>
                </a:gs>
              </a:gsLst>
              <a:path path="circle">
                <a:fillToRect l="0" r="100000" t="0" b="100000"/>
              </a:path>
              <a:tileRect r="0" l="-100000" b="0" t="-100000"/>
            </a:gra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5068102">
            <a:off x="14683763" y="498503"/>
            <a:ext cx="3044901" cy="304490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B6CE6">
                    <a:alpha val="14000"/>
                  </a:srgbClr>
                </a:gs>
                <a:gs pos="100000">
                  <a:srgbClr val="543985">
                    <a:alpha val="0"/>
                  </a:srgbClr>
                </a:gs>
              </a:gsLst>
              <a:path path="circle">
                <a:fillToRect l="0" r="100000" t="0" b="100000"/>
              </a:path>
              <a:tileRect r="0" l="-100000" b="0" t="-100000"/>
            </a:gra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318235" y="3162144"/>
            <a:ext cx="6643094" cy="9210528"/>
          </a:xfrm>
          <a:custGeom>
            <a:avLst/>
            <a:gdLst/>
            <a:ahLst/>
            <a:cxnLst/>
            <a:rect r="r" b="b" t="t" l="l"/>
            <a:pathLst>
              <a:path h="9210528" w="6643094">
                <a:moveTo>
                  <a:pt x="0" y="0"/>
                </a:moveTo>
                <a:lnTo>
                  <a:pt x="6643094" y="0"/>
                </a:lnTo>
                <a:lnTo>
                  <a:pt x="6643094" y="9210528"/>
                </a:lnTo>
                <a:lnTo>
                  <a:pt x="0" y="9210528"/>
                </a:lnTo>
                <a:lnTo>
                  <a:pt x="0" y="0"/>
                </a:lnTo>
                <a:close/>
              </a:path>
            </a:pathLst>
          </a:custGeom>
          <a:blipFill>
            <a:blip r:embed="rId6"/>
            <a:stretch>
              <a:fillRect l="0" t="0" r="0" b="0"/>
            </a:stretch>
          </a:blipFill>
        </p:spPr>
      </p:sp>
      <p:grpSp>
        <p:nvGrpSpPr>
          <p:cNvPr name="Group 14" id="14"/>
          <p:cNvGrpSpPr/>
          <p:nvPr/>
        </p:nvGrpSpPr>
        <p:grpSpPr>
          <a:xfrm rot="5068102">
            <a:off x="7530354" y="2587221"/>
            <a:ext cx="833276" cy="83327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B6CE6">
                    <a:alpha val="31000"/>
                  </a:srgbClr>
                </a:gs>
                <a:gs pos="100000">
                  <a:srgbClr val="543985">
                    <a:alpha val="0"/>
                  </a:srgbClr>
                </a:gs>
              </a:gsLst>
              <a:path path="circle">
                <a:fillToRect l="0" r="100000" t="0" b="100000"/>
              </a:path>
              <a:tileRect r="0" l="-100000" b="0" t="-100000"/>
            </a:gra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7" id="17"/>
          <p:cNvSpPr/>
          <p:nvPr/>
        </p:nvSpPr>
        <p:spPr>
          <a:xfrm flipH="false" flipV="false" rot="0">
            <a:off x="14363175" y="8866922"/>
            <a:ext cx="4978965" cy="4114800"/>
          </a:xfrm>
          <a:custGeom>
            <a:avLst/>
            <a:gdLst/>
            <a:ahLst/>
            <a:cxnLst/>
            <a:rect r="r" b="b" t="t" l="l"/>
            <a:pathLst>
              <a:path h="4114800" w="4978965">
                <a:moveTo>
                  <a:pt x="0" y="0"/>
                </a:moveTo>
                <a:lnTo>
                  <a:pt x="4978965" y="0"/>
                </a:lnTo>
                <a:lnTo>
                  <a:pt x="4978965" y="4114800"/>
                </a:lnTo>
                <a:lnTo>
                  <a:pt x="0" y="4114800"/>
                </a:lnTo>
                <a:lnTo>
                  <a:pt x="0" y="0"/>
                </a:lnTo>
                <a:close/>
              </a:path>
            </a:pathLst>
          </a:custGeom>
          <a:blipFill>
            <a:blip r:embed="rId7">
              <a:alphaModFix amt="41000"/>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1414417" y="1109137"/>
            <a:ext cx="409369" cy="460435"/>
          </a:xfrm>
          <a:custGeom>
            <a:avLst/>
            <a:gdLst/>
            <a:ahLst/>
            <a:cxnLst/>
            <a:rect r="r" b="b" t="t" l="l"/>
            <a:pathLst>
              <a:path h="460435" w="409369">
                <a:moveTo>
                  <a:pt x="0" y="0"/>
                </a:moveTo>
                <a:lnTo>
                  <a:pt x="409369" y="0"/>
                </a:lnTo>
                <a:lnTo>
                  <a:pt x="409369" y="460435"/>
                </a:lnTo>
                <a:lnTo>
                  <a:pt x="0" y="46043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true" flipV="false" rot="6768077">
            <a:off x="5628473" y="6104989"/>
            <a:ext cx="2418334" cy="2374364"/>
          </a:xfrm>
          <a:custGeom>
            <a:avLst/>
            <a:gdLst/>
            <a:ahLst/>
            <a:cxnLst/>
            <a:rect r="r" b="b" t="t" l="l"/>
            <a:pathLst>
              <a:path h="2374364" w="2418334">
                <a:moveTo>
                  <a:pt x="2418333" y="0"/>
                </a:moveTo>
                <a:lnTo>
                  <a:pt x="0" y="0"/>
                </a:lnTo>
                <a:lnTo>
                  <a:pt x="0" y="2374363"/>
                </a:lnTo>
                <a:lnTo>
                  <a:pt x="2418333" y="2374363"/>
                </a:lnTo>
                <a:lnTo>
                  <a:pt x="2418333" y="0"/>
                </a:lnTo>
                <a:close/>
              </a:path>
            </a:pathLst>
          </a:custGeom>
          <a:blipFill>
            <a:blip r:embed="rId11">
              <a:alphaModFix amt="53000"/>
              <a:extLst>
                <a:ext uri="{96DAC541-7B7A-43D3-8B79-37D633B846F1}">
                  <asvg:svgBlip xmlns:asvg="http://schemas.microsoft.com/office/drawing/2016/SVG/main" r:embed="rId12"/>
                </a:ext>
              </a:extLst>
            </a:blip>
            <a:stretch>
              <a:fillRect l="0" t="0" r="0" b="0"/>
            </a:stretch>
          </a:blipFill>
        </p:spPr>
      </p:sp>
      <p:sp>
        <p:nvSpPr>
          <p:cNvPr name="TextBox 20" id="20"/>
          <p:cNvSpPr txBox="true"/>
          <p:nvPr/>
        </p:nvSpPr>
        <p:spPr>
          <a:xfrm rot="0">
            <a:off x="9534119" y="1866706"/>
            <a:ext cx="8753881" cy="4097940"/>
          </a:xfrm>
          <a:prstGeom prst="rect">
            <a:avLst/>
          </a:prstGeom>
        </p:spPr>
        <p:txBody>
          <a:bodyPr anchor="t" rtlCol="false" tIns="0" lIns="0" bIns="0" rIns="0">
            <a:spAutoFit/>
          </a:bodyPr>
          <a:lstStyle/>
          <a:p>
            <a:pPr algn="l">
              <a:lnSpc>
                <a:spcPts val="15822"/>
              </a:lnSpc>
            </a:pPr>
            <a:r>
              <a:rPr lang="en-US" sz="15512" b="true">
                <a:solidFill>
                  <a:srgbClr val="FFFFFF"/>
                </a:solidFill>
                <a:latin typeface="Inter Bold"/>
                <a:ea typeface="Inter Bold"/>
                <a:cs typeface="Inter Bold"/>
                <a:sym typeface="Inter Bold"/>
              </a:rPr>
              <a:t>Terima Kasih</a:t>
            </a:r>
          </a:p>
        </p:txBody>
      </p:sp>
      <p:sp>
        <p:nvSpPr>
          <p:cNvPr name="TextBox 21" id="21"/>
          <p:cNvSpPr txBox="true"/>
          <p:nvPr/>
        </p:nvSpPr>
        <p:spPr>
          <a:xfrm rot="0">
            <a:off x="9534119" y="6093351"/>
            <a:ext cx="7725181" cy="1026184"/>
          </a:xfrm>
          <a:prstGeom prst="rect">
            <a:avLst/>
          </a:prstGeom>
        </p:spPr>
        <p:txBody>
          <a:bodyPr anchor="t" rtlCol="false" tIns="0" lIns="0" bIns="0" rIns="0">
            <a:spAutoFit/>
          </a:bodyPr>
          <a:lstStyle/>
          <a:p>
            <a:pPr algn="l">
              <a:lnSpc>
                <a:spcPts val="8349"/>
              </a:lnSpc>
            </a:pPr>
            <a:r>
              <a:rPr lang="en-US" sz="5963" b="true">
                <a:solidFill>
                  <a:srgbClr val="EBE4ED"/>
                </a:solidFill>
                <a:latin typeface="Inter Semi-Bold"/>
                <a:ea typeface="Inter Semi-Bold"/>
                <a:cs typeface="Inter Semi-Bold"/>
                <a:sym typeface="Inter Semi-Bold"/>
              </a:rPr>
              <a:t>Atas Perhatiannya</a:t>
            </a:r>
          </a:p>
        </p:txBody>
      </p:sp>
      <p:sp>
        <p:nvSpPr>
          <p:cNvPr name="TextBox 22" id="22"/>
          <p:cNvSpPr txBox="true"/>
          <p:nvPr/>
        </p:nvSpPr>
        <p:spPr>
          <a:xfrm rot="0">
            <a:off x="5834903" y="7007909"/>
            <a:ext cx="2005473" cy="501849"/>
          </a:xfrm>
          <a:prstGeom prst="rect">
            <a:avLst/>
          </a:prstGeom>
        </p:spPr>
        <p:txBody>
          <a:bodyPr anchor="t" rtlCol="false" tIns="0" lIns="0" bIns="0" rIns="0">
            <a:spAutoFit/>
          </a:bodyPr>
          <a:lstStyle/>
          <a:p>
            <a:pPr algn="ctr">
              <a:lnSpc>
                <a:spcPts val="4041"/>
              </a:lnSpc>
            </a:pPr>
            <a:r>
              <a:rPr lang="en-US" b="true" sz="2886">
                <a:solidFill>
                  <a:srgbClr val="EBE4ED"/>
                </a:solidFill>
                <a:latin typeface="Inter Ultra-Bold"/>
                <a:ea typeface="Inter Ultra-Bold"/>
                <a:cs typeface="Inter Ultra-Bold"/>
                <a:sym typeface="Inter Ultra-Bold"/>
              </a:rPr>
              <a:t>SELESAI</a:t>
            </a:r>
          </a:p>
        </p:txBody>
      </p:sp>
      <p:sp>
        <p:nvSpPr>
          <p:cNvPr name="TextBox 23" id="23"/>
          <p:cNvSpPr txBox="true"/>
          <p:nvPr/>
        </p:nvSpPr>
        <p:spPr>
          <a:xfrm rot="0">
            <a:off x="2318666" y="1140991"/>
            <a:ext cx="2235778" cy="349250"/>
          </a:xfrm>
          <a:prstGeom prst="rect">
            <a:avLst/>
          </a:prstGeom>
        </p:spPr>
        <p:txBody>
          <a:bodyPr anchor="t" rtlCol="false" tIns="0" lIns="0" bIns="0" rIns="0">
            <a:spAutoFit/>
          </a:bodyPr>
          <a:lstStyle/>
          <a:p>
            <a:pPr algn="l">
              <a:lnSpc>
                <a:spcPts val="2800"/>
              </a:lnSpc>
            </a:pPr>
            <a:r>
              <a:rPr lang="en-US" sz="2000" b="true">
                <a:solidFill>
                  <a:srgbClr val="EBE4ED"/>
                </a:solidFill>
                <a:latin typeface="TT Interphases Bold"/>
                <a:ea typeface="TT Interphases Bold"/>
                <a:cs typeface="TT Interphases Bold"/>
                <a:sym typeface="TT Interphases Bold"/>
              </a:rPr>
              <a:t>Kelompok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DAGn27lI20A</dc:identifier>
  <dcterms:modified xsi:type="dcterms:W3CDTF">2011-08-01T06:04:30Z</dcterms:modified>
  <cp:revision>1</cp:revision>
  <dc:title>PPT KELOMPOK 16 - Pinjam Ruang FT V2</dc:title>
</cp:coreProperties>
</file>